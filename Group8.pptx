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Economica"/>
      <p:regular r:id="rId17"/>
      <p:bold r:id="rId18"/>
      <p:italic r:id="rId19"/>
      <p:boldItalic r:id="rId20"/>
    </p:embeddedFont>
    <p:embeddedFont>
      <p:font typeface="Open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1832964-DCB5-4450-9EE1-D2443716A4E1}">
  <a:tblStyle styleId="{91832964-DCB5-4450-9EE1-D2443716A4E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conomica-boldItalic.fntdata"/><Relationship Id="rId11" Type="http://schemas.openxmlformats.org/officeDocument/2006/relationships/slide" Target="slides/slide5.xml"/><Relationship Id="rId22" Type="http://schemas.openxmlformats.org/officeDocument/2006/relationships/font" Target="fonts/OpenSans-bold.fntdata"/><Relationship Id="rId10" Type="http://schemas.openxmlformats.org/officeDocument/2006/relationships/slide" Target="slides/slide4.xml"/><Relationship Id="rId21" Type="http://schemas.openxmlformats.org/officeDocument/2006/relationships/font" Target="fonts/OpenSans-regular.fntdata"/><Relationship Id="rId13" Type="http://schemas.openxmlformats.org/officeDocument/2006/relationships/slide" Target="slides/slide7.xml"/><Relationship Id="rId24" Type="http://schemas.openxmlformats.org/officeDocument/2006/relationships/font" Target="fonts/OpenSans-boldItalic.fntdata"/><Relationship Id="rId12" Type="http://schemas.openxmlformats.org/officeDocument/2006/relationships/slide" Target="slides/slide6.xml"/><Relationship Id="rId23"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Economica-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Economica-italic.fntdata"/><Relationship Id="rId6" Type="http://schemas.openxmlformats.org/officeDocument/2006/relationships/notesMaster" Target="notesMasters/notesMaster1.xml"/><Relationship Id="rId18" Type="http://schemas.openxmlformats.org/officeDocument/2006/relationships/font" Target="fonts/Economica-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abb5fc6d3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abb5fc6d3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which is only </a:t>
            </a:r>
            <a:r>
              <a:rPr b="1" lang="en">
                <a:solidFill>
                  <a:schemeClr val="dk1"/>
                </a:solidFill>
              </a:rPr>
              <a:t>0.10% density</a:t>
            </a:r>
            <a:r>
              <a:rPr lang="en">
                <a:solidFill>
                  <a:schemeClr val="dk1"/>
                </a:solidFill>
              </a:rPr>
              <a:t> of the full user–item matrix</a:t>
            </a:r>
            <a:br>
              <a:rPr lang="en"/>
            </a:br>
            <a:r>
              <a:rPr lang="en">
                <a:solidFill>
                  <a:srgbClr val="9E9E9E"/>
                </a:solidFill>
              </a:rPr>
              <a:t>User interaction:mean=39,median=25, std=45, min=16, max=1848</a:t>
            </a:r>
            <a:endParaRPr>
              <a:solidFill>
                <a:srgbClr val="9E9E9E"/>
              </a:solidFill>
            </a:endParaRPr>
          </a:p>
          <a:p>
            <a:pPr indent="0" lvl="0" marL="0" rtl="0" algn="l">
              <a:spcBef>
                <a:spcPts val="0"/>
              </a:spcBef>
              <a:spcAft>
                <a:spcPts val="0"/>
              </a:spcAft>
              <a:buNone/>
            </a:pPr>
            <a:r>
              <a:rPr lang="en">
                <a:solidFill>
                  <a:srgbClr val="9E9E9E"/>
                </a:solidFill>
              </a:rPr>
              <a:t>Item frequency:mean=33,  median = 17, std=50 min=1, max=1258</a:t>
            </a:r>
            <a:endParaRPr>
              <a:solidFill>
                <a:srgbClr val="9E9E9E"/>
              </a:solidFill>
            </a:endParaRPr>
          </a:p>
          <a:p>
            <a:pPr indent="0" lvl="0" marL="0" rtl="0" algn="l">
              <a:spcBef>
                <a:spcPts val="0"/>
              </a:spcBef>
              <a:spcAft>
                <a:spcPts val="0"/>
              </a:spcAft>
              <a:buNone/>
            </a:pPr>
            <a:r>
              <a:rPr lang="en">
                <a:solidFill>
                  <a:schemeClr val="dk1"/>
                </a:solidFill>
              </a:rPr>
              <a:t>The distribution is very skewed: a few items appear </a:t>
            </a:r>
            <a:r>
              <a:rPr b="1" lang="en">
                <a:solidFill>
                  <a:schemeClr val="dk1"/>
                </a:solidFill>
              </a:rPr>
              <a:t>1,000 times</a:t>
            </a:r>
            <a:r>
              <a:rPr lang="en">
                <a:solidFill>
                  <a:schemeClr val="dk1"/>
                </a:solidFill>
              </a:rPr>
              <a:t>, while many items </a:t>
            </a:r>
            <a:r>
              <a:rPr lang="en">
                <a:solidFill>
                  <a:schemeClr val="dk1"/>
                </a:solidFill>
              </a:rPr>
              <a:t>appear just once</a:t>
            </a:r>
            <a:r>
              <a:rPr lang="en">
                <a:solidFill>
                  <a:schemeClr val="dk1"/>
                </a:solidFill>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bb5fc6d3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bb5fc6d3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bb5fc6d3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bb5fc6d3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bb5fc6d3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bb5fc6d3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200">
                <a:solidFill>
                  <a:schemeClr val="dk1"/>
                </a:solidFill>
                <a:latin typeface="Times New Roman"/>
                <a:ea typeface="Times New Roman"/>
                <a:cs typeface="Times New Roman"/>
                <a:sym typeface="Times New Roman"/>
              </a:rPr>
              <a:t>Item k-core: </a:t>
            </a:r>
            <a:r>
              <a:rPr lang="en" sz="1200">
                <a:solidFill>
                  <a:schemeClr val="dk1"/>
                </a:solidFill>
                <a:latin typeface="Times New Roman"/>
                <a:ea typeface="Times New Roman"/>
                <a:cs typeface="Times New Roman"/>
                <a:sym typeface="Times New Roman"/>
              </a:rPr>
              <a:t>enforced a</a:t>
            </a:r>
            <a:r>
              <a:rPr lang="en" sz="1200">
                <a:solidFill>
                  <a:schemeClr val="dk1"/>
                </a:solidFill>
                <a:latin typeface="Times New Roman"/>
                <a:ea typeface="Times New Roman"/>
                <a:cs typeface="Times New Roman"/>
                <a:sym typeface="Times New Roman"/>
              </a:rPr>
              <a:t> minimum item frequency, requiring items to be present for at least 3 users (item_min = 3).  This process eliminates cold users/items, improving the conditioning of the Gram matrix.</a:t>
            </a:r>
            <a:endParaRPr sz="12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1200">
                <a:solidFill>
                  <a:schemeClr val="dk1"/>
                </a:solidFill>
                <a:latin typeface="Times New Roman"/>
                <a:ea typeface="Times New Roman"/>
                <a:cs typeface="Times New Roman"/>
                <a:sym typeface="Times New Roman"/>
              </a:rPr>
              <a:t>stratified train/test split.</a:t>
            </a:r>
            <a:endParaRPr sz="12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rPr lang="en" sz="1200">
                <a:solidFill>
                  <a:schemeClr val="dk1"/>
                </a:solidFill>
                <a:latin typeface="Times New Roman"/>
                <a:ea typeface="Times New Roman"/>
                <a:cs typeface="Times New Roman"/>
                <a:sym typeface="Times New Roman"/>
              </a:rPr>
              <a:t>Bias: The more frequently an item appears, </a:t>
            </a:r>
            <a:r>
              <a:rPr lang="en" sz="1200">
                <a:solidFill>
                  <a:schemeClr val="dk1"/>
                </a:solidFill>
                <a:latin typeface="Times New Roman"/>
                <a:ea typeface="Times New Roman"/>
                <a:cs typeface="Times New Roman"/>
                <a:sym typeface="Times New Roman"/>
              </a:rPr>
              <a:t>more </a:t>
            </a:r>
            <a:r>
              <a:rPr lang="en" sz="1200">
                <a:solidFill>
                  <a:schemeClr val="dk1"/>
                </a:solidFill>
                <a:latin typeface="Times New Roman"/>
                <a:ea typeface="Times New Roman"/>
                <a:cs typeface="Times New Roman"/>
                <a:sym typeface="Times New Roman"/>
              </a:rPr>
              <a:t>penalized compared to rare items. Balance dataset between popularity of items and speciality of users.</a:t>
            </a:r>
            <a:endParaRPr sz="1200">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br>
              <a:rPr lang="en" sz="1200">
                <a:solidFill>
                  <a:schemeClr val="dk1"/>
                </a:solidFill>
                <a:latin typeface="Times New Roman"/>
                <a:ea typeface="Times New Roman"/>
                <a:cs typeface="Times New Roman"/>
                <a:sym typeface="Times New Roman"/>
              </a:rPr>
            </a:b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bb5fc6d35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bb5fc6d35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Ease:</a:t>
            </a:r>
            <a:endParaRPr/>
          </a:p>
          <a:p>
            <a:pPr indent="0" lvl="0" marL="0" rtl="0" algn="l">
              <a:spcBef>
                <a:spcPts val="0"/>
              </a:spcBef>
              <a:spcAft>
                <a:spcPts val="0"/>
              </a:spcAft>
              <a:buNone/>
            </a:pPr>
            <a:r>
              <a:rPr lang="en"/>
              <a:t>t</a:t>
            </a:r>
            <a:r>
              <a:rPr lang="en"/>
              <a:t>he goal is: reconstruct each user’s interaction vector x via B.</a:t>
            </a:r>
            <a:endParaRPr/>
          </a:p>
          <a:p>
            <a:pPr indent="0" lvl="0" marL="0" rtl="0" algn="l">
              <a:spcBef>
                <a:spcPts val="0"/>
              </a:spcBef>
              <a:spcAft>
                <a:spcPts val="0"/>
              </a:spcAft>
              <a:buClr>
                <a:schemeClr val="dk1"/>
              </a:buClr>
              <a:buSzPts val="1100"/>
              <a:buFont typeface="Arial"/>
              <a:buNone/>
            </a:pPr>
            <a:r>
              <a:rPr lang="en"/>
              <a:t>X = user–item interaction matrix,</a:t>
            </a:r>
            <a:endParaRPr/>
          </a:p>
          <a:p>
            <a:pPr indent="0" lvl="0" marL="0" rtl="0" algn="l">
              <a:spcBef>
                <a:spcPts val="0"/>
              </a:spcBef>
              <a:spcAft>
                <a:spcPts val="0"/>
              </a:spcAft>
              <a:buClr>
                <a:schemeClr val="dk1"/>
              </a:buClr>
              <a:buSzPts val="1100"/>
              <a:buFont typeface="Arial"/>
              <a:buNone/>
            </a:pPr>
            <a:r>
              <a:rPr lang="en"/>
              <a:t>B = item–item weight matrix,</a:t>
            </a:r>
            <a:endParaRPr/>
          </a:p>
          <a:p>
            <a:pPr indent="0" lvl="0" marL="0" rtl="0" algn="l">
              <a:spcBef>
                <a:spcPts val="0"/>
              </a:spcBef>
              <a:spcAft>
                <a:spcPts val="0"/>
              </a:spcAft>
              <a:buClr>
                <a:schemeClr val="dk1"/>
              </a:buClr>
              <a:buSzPts val="1100"/>
              <a:buFont typeface="Arial"/>
              <a:buNone/>
            </a:pPr>
            <a:r>
              <a:rPr lang="en"/>
              <a:t>λ = regularization strength.</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bb5fc6d3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bb5fc6d3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Char char="●"/>
            </a:pPr>
            <a:r>
              <a:rPr lang="en" sz="1800">
                <a:solidFill>
                  <a:srgbClr val="595959"/>
                </a:solidFill>
              </a:rPr>
              <a:t>Captures both local &amp; global graph structure</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Significantly higher parameter count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bb5fc6d3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bb5fc6d3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solidFill>
                  <a:schemeClr val="dk1"/>
                </a:solidFill>
              </a:rPr>
              <a:t>Sampling ratio</a:t>
            </a:r>
            <a:r>
              <a:rPr lang="en" sz="1400">
                <a:solidFill>
                  <a:schemeClr val="dk1"/>
                </a:solidFill>
              </a:rPr>
              <a:t>: is ratio of negative item to positive items. EX. sampling ratio=4 means 4 negative samples per positive sample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bb5fc6d3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bb5fc6d3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SciPy EASE (float64/float32): The pure SciPy/NumPy version of EASE ran into numerical issues (ill-conditioned inverse, NaNs, nearly identical recommendation lists) and large memory use, so we abandoned it in favor of the PyTorch implementation.</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b="1" lang="en">
                <a:solidFill>
                  <a:schemeClr val="dk1"/>
                </a:solidFill>
              </a:rPr>
              <a:t>Simple often wins:</a:t>
            </a:r>
            <a:r>
              <a:rPr lang="en">
                <a:solidFill>
                  <a:schemeClr val="dk1"/>
                </a:solidFill>
              </a:rPr>
              <a:t> On this implicit dataset, a well-regularized </a:t>
            </a:r>
            <a:r>
              <a:rPr b="1" lang="en">
                <a:solidFill>
                  <a:schemeClr val="dk1"/>
                </a:solidFill>
              </a:rPr>
              <a:t>linear model (EASE)</a:t>
            </a:r>
            <a:r>
              <a:rPr lang="en">
                <a:solidFill>
                  <a:schemeClr val="dk1"/>
                </a:solidFill>
              </a:rPr>
              <a:t> and a </a:t>
            </a:r>
            <a:r>
              <a:rPr b="1" lang="en">
                <a:solidFill>
                  <a:schemeClr val="dk1"/>
                </a:solidFill>
              </a:rPr>
              <a:t>light GNN (LightGCN)</a:t>
            </a:r>
            <a:r>
              <a:rPr lang="en">
                <a:solidFill>
                  <a:schemeClr val="dk1"/>
                </a:solidFill>
              </a:rPr>
              <a:t> provided the best trade-off between complexity and NDCG@20; very deep/complex architectures did not clearly pay off under our constraints.</a:t>
            </a:r>
            <a:endParaRPr>
              <a:solidFill>
                <a:schemeClr val="dk1"/>
              </a:solidFill>
            </a:endParaRPr>
          </a:p>
          <a:p>
            <a:pPr indent="-304800" lvl="0" marL="457200" rtl="0" algn="l">
              <a:lnSpc>
                <a:spcPct val="115000"/>
              </a:lnSpc>
              <a:spcBef>
                <a:spcPts val="0"/>
              </a:spcBef>
              <a:spcAft>
                <a:spcPts val="0"/>
              </a:spcAft>
              <a:buClr>
                <a:schemeClr val="dk1"/>
              </a:buClr>
              <a:buSzPts val="1200"/>
              <a:buFont typeface="Times New Roman"/>
              <a:buChar char="●"/>
            </a:pPr>
            <a:r>
              <a:rPr b="1" lang="en">
                <a:solidFill>
                  <a:schemeClr val="dk1"/>
                </a:solidFill>
              </a:rPr>
              <a:t>Regularization &amp; weighting matter:</a:t>
            </a:r>
            <a:r>
              <a:rPr lang="en">
                <a:solidFill>
                  <a:schemeClr val="dk1"/>
                </a:solidFill>
              </a:rPr>
              <a:t> Choices like </a:t>
            </a:r>
            <a:r>
              <a:rPr b="1" lang="en">
                <a:solidFill>
                  <a:schemeClr val="dk1"/>
                </a:solidFill>
              </a:rPr>
              <a:t>λ</a:t>
            </a:r>
            <a:r>
              <a:rPr lang="en">
                <a:solidFill>
                  <a:schemeClr val="dk1"/>
                </a:solidFill>
              </a:rPr>
              <a:t>, </a:t>
            </a:r>
            <a:r>
              <a:rPr b="1" lang="en">
                <a:solidFill>
                  <a:schemeClr val="dk1"/>
                </a:solidFill>
              </a:rPr>
              <a:t>row-normalization</a:t>
            </a:r>
            <a:r>
              <a:rPr lang="en">
                <a:solidFill>
                  <a:schemeClr val="dk1"/>
                </a:solidFill>
              </a:rPr>
              <a:t>, and </a:t>
            </a:r>
            <a:r>
              <a:rPr b="1" lang="en">
                <a:solidFill>
                  <a:schemeClr val="dk1"/>
                </a:solidFill>
              </a:rPr>
              <a:t>IDF weighting</a:t>
            </a:r>
            <a:r>
              <a:rPr lang="en">
                <a:solidFill>
                  <a:schemeClr val="dk1"/>
                </a:solidFill>
              </a:rPr>
              <a:t> had a larger impact than adding extra model depth.</a:t>
            </a:r>
            <a:br>
              <a:rPr lang="en">
                <a:solidFill>
                  <a:schemeClr val="dk1"/>
                </a:solidFill>
              </a:rPr>
            </a:br>
            <a:endParaRPr>
              <a:solidFill>
                <a:schemeClr val="dk1"/>
              </a:solidFill>
            </a:endParaRPr>
          </a:p>
          <a:p>
            <a:pPr indent="-304800" lvl="0" marL="457200" rtl="0" algn="l">
              <a:lnSpc>
                <a:spcPct val="115000"/>
              </a:lnSpc>
              <a:spcBef>
                <a:spcPts val="0"/>
              </a:spcBef>
              <a:spcAft>
                <a:spcPts val="0"/>
              </a:spcAft>
              <a:buClr>
                <a:schemeClr val="dk1"/>
              </a:buClr>
              <a:buSzPts val="1200"/>
              <a:buFont typeface="Times New Roman"/>
              <a:buChar char="●"/>
            </a:pPr>
            <a:r>
              <a:rPr b="1" lang="en">
                <a:solidFill>
                  <a:schemeClr val="dk1"/>
                </a:solidFill>
              </a:rPr>
              <a:t>Future work:</a:t>
            </a:r>
            <a:r>
              <a:rPr lang="en">
                <a:solidFill>
                  <a:schemeClr val="dk1"/>
                </a:solidFill>
              </a:rPr>
              <a:t> Explore more scalable solvers for even larger item spaces, broader hyperparameter search (e.g., different normalizations, alternative regularizers), and ways to incorporate side information (content, time, user features) on top of the strongest baseline models.</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bb5fc6d3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bb5fc6d3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11708" y="1151932"/>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Comparing Linear, Neural, and Graph-Based Recommender Models on Implicit Feedback Data</a:t>
            </a:r>
            <a:endParaRPr/>
          </a:p>
        </p:txBody>
      </p:sp>
      <p:sp>
        <p:nvSpPr>
          <p:cNvPr id="63" name="Google Shape;63;p13"/>
          <p:cNvSpPr txBox="1"/>
          <p:nvPr>
            <p:ph idx="1" type="subTitle"/>
          </p:nvPr>
        </p:nvSpPr>
        <p:spPr>
          <a:xfrm>
            <a:off x="311700" y="3411577"/>
            <a:ext cx="8520600" cy="7926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Clr>
                <a:schemeClr val="dk1"/>
              </a:buClr>
              <a:buSzPts val="1100"/>
              <a:buFont typeface="Arial"/>
              <a:buNone/>
            </a:pPr>
            <a:r>
              <a:rPr lang="en"/>
              <a:t>Jose Velasco •</a:t>
            </a:r>
            <a:r>
              <a:rPr lang="en"/>
              <a:t>Itzel Xu •</a:t>
            </a:r>
            <a:r>
              <a:rPr lang="en"/>
              <a:t> Erik Bai</a:t>
            </a:r>
            <a:endParaRPr/>
          </a:p>
          <a:p>
            <a:pPr indent="0" lvl="0" marL="0" rtl="0" algn="ctr">
              <a:spcBef>
                <a:spcPts val="0"/>
              </a:spcBef>
              <a:spcAft>
                <a:spcPts val="0"/>
              </a:spcAft>
              <a:buNone/>
            </a:pPr>
            <a:r>
              <a:rPr lang="en"/>
              <a:t>San José State University — CMPE 256</a:t>
            </a:r>
            <a:endParaRPr/>
          </a:p>
        </p:txBody>
      </p:sp>
      <p:cxnSp>
        <p:nvCxnSpPr>
          <p:cNvPr id="64" name="Google Shape;64;p13"/>
          <p:cNvCxnSpPr/>
          <p:nvPr/>
        </p:nvCxnSpPr>
        <p:spPr>
          <a:xfrm>
            <a:off x="378150" y="3244000"/>
            <a:ext cx="8548800" cy="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Motivation</a:t>
            </a:r>
            <a:endParaRPr/>
          </a:p>
        </p:txBody>
      </p:sp>
      <p:pic>
        <p:nvPicPr>
          <p:cNvPr id="70" name="Google Shape;70;p14" title="item_popularity_histogram.png"/>
          <p:cNvPicPr preferRelativeResize="0"/>
          <p:nvPr/>
        </p:nvPicPr>
        <p:blipFill>
          <a:blip r:embed="rId3">
            <a:alphaModFix/>
          </a:blip>
          <a:stretch>
            <a:fillRect/>
          </a:stretch>
        </p:blipFill>
        <p:spPr>
          <a:xfrm>
            <a:off x="5454388" y="2571750"/>
            <a:ext cx="3144960" cy="1965600"/>
          </a:xfrm>
          <a:prstGeom prst="rect">
            <a:avLst/>
          </a:prstGeom>
          <a:noFill/>
          <a:ln>
            <a:noFill/>
          </a:ln>
        </p:spPr>
      </p:pic>
      <p:pic>
        <p:nvPicPr>
          <p:cNvPr id="71" name="Google Shape;71;p14" title="user_interaction_histogram.png"/>
          <p:cNvPicPr preferRelativeResize="0"/>
          <p:nvPr/>
        </p:nvPicPr>
        <p:blipFill>
          <a:blip r:embed="rId4">
            <a:alphaModFix/>
          </a:blip>
          <a:stretch>
            <a:fillRect/>
          </a:stretch>
        </p:blipFill>
        <p:spPr>
          <a:xfrm>
            <a:off x="5620699" y="606150"/>
            <a:ext cx="2978650" cy="1861660"/>
          </a:xfrm>
          <a:prstGeom prst="rect">
            <a:avLst/>
          </a:prstGeom>
          <a:noFill/>
          <a:ln>
            <a:noFill/>
          </a:ln>
        </p:spPr>
      </p:pic>
      <p:sp>
        <p:nvSpPr>
          <p:cNvPr id="72" name="Google Shape;72;p14"/>
          <p:cNvSpPr txBox="1"/>
          <p:nvPr>
            <p:ph idx="1" type="body"/>
          </p:nvPr>
        </p:nvSpPr>
        <p:spPr>
          <a:xfrm>
            <a:off x="311700" y="1020325"/>
            <a:ext cx="5619900" cy="437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t>Goal</a:t>
            </a:r>
            <a:r>
              <a:rPr lang="en" sz="2000"/>
              <a:t>: </a:t>
            </a:r>
            <a:r>
              <a:rPr lang="en" sz="1608">
                <a:solidFill>
                  <a:schemeClr val="dk1"/>
                </a:solidFill>
              </a:rPr>
              <a:t>Comparing linear, neural, and graph-Based recommender models that improve ranking accuracy (NDCG@20) on the implicit feedback train-1.txt dataset.</a:t>
            </a:r>
            <a:endParaRPr sz="1708"/>
          </a:p>
          <a:p>
            <a:pPr indent="0" lvl="0" marL="0" rtl="0" algn="l">
              <a:spcBef>
                <a:spcPts val="1200"/>
              </a:spcBef>
              <a:spcAft>
                <a:spcPts val="0"/>
              </a:spcAft>
              <a:buNone/>
            </a:pPr>
            <a:r>
              <a:t/>
            </a:r>
            <a:endParaRPr sz="2000"/>
          </a:p>
          <a:p>
            <a:pPr indent="0" lvl="0" marL="0" rtl="0" algn="l">
              <a:spcBef>
                <a:spcPts val="1200"/>
              </a:spcBef>
              <a:spcAft>
                <a:spcPts val="0"/>
              </a:spcAft>
              <a:buNone/>
            </a:pPr>
            <a:r>
              <a:rPr lang="en" sz="2000"/>
              <a:t>Dataset Overview</a:t>
            </a:r>
            <a:endParaRPr sz="2000"/>
          </a:p>
          <a:p>
            <a:pPr indent="-330200" lvl="0" marL="457200" rtl="0" algn="l">
              <a:spcBef>
                <a:spcPts val="1200"/>
              </a:spcBef>
              <a:spcAft>
                <a:spcPts val="0"/>
              </a:spcAft>
              <a:buClr>
                <a:schemeClr val="dk1"/>
              </a:buClr>
              <a:buSzPts val="1600"/>
              <a:buChar char="●"/>
            </a:pPr>
            <a:r>
              <a:rPr b="1" lang="en" sz="1600">
                <a:solidFill>
                  <a:schemeClr val="dk1"/>
                </a:solidFill>
              </a:rPr>
              <a:t>31,668 users</a:t>
            </a:r>
            <a:endParaRPr b="1"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38,048 items</a:t>
            </a:r>
            <a:endParaRPr b="1" sz="1600">
              <a:solidFill>
                <a:schemeClr val="dk1"/>
              </a:solidFill>
            </a:endParaRPr>
          </a:p>
          <a:p>
            <a:pPr indent="-330200" lvl="0" marL="457200" rtl="0" algn="l">
              <a:spcBef>
                <a:spcPts val="0"/>
              </a:spcBef>
              <a:spcAft>
                <a:spcPts val="0"/>
              </a:spcAft>
              <a:buClr>
                <a:schemeClr val="dk1"/>
              </a:buClr>
              <a:buSzPts val="1600"/>
              <a:buChar char="●"/>
            </a:pPr>
            <a:r>
              <a:rPr b="1" lang="en" sz="1600">
                <a:solidFill>
                  <a:schemeClr val="dk1"/>
                </a:solidFill>
              </a:rPr>
              <a:t>1.23M interactions</a:t>
            </a:r>
            <a:r>
              <a:rPr lang="en" sz="1600">
                <a:solidFill>
                  <a:schemeClr val="dk1"/>
                </a:solidFill>
              </a:rPr>
              <a:t> (0.10% density)</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Strong skew distr</a:t>
            </a:r>
            <a:r>
              <a:rPr lang="en" sz="1600"/>
              <a:t>ibution</a:t>
            </a:r>
            <a:r>
              <a:rPr lang="en" sz="1600">
                <a:solidFill>
                  <a:schemeClr val="dk1"/>
                </a:solidFill>
              </a:rPr>
              <a:t> </a:t>
            </a:r>
            <a:endParaRPr sz="1600"/>
          </a:p>
          <a:p>
            <a:pPr indent="-330200" lvl="1" marL="914400" rtl="0" algn="l">
              <a:spcBef>
                <a:spcPts val="0"/>
              </a:spcBef>
              <a:spcAft>
                <a:spcPts val="0"/>
              </a:spcAft>
              <a:buClr>
                <a:schemeClr val="dk1"/>
              </a:buClr>
              <a:buSzPts val="1600"/>
              <a:buChar char="○"/>
            </a:pPr>
            <a:r>
              <a:rPr lang="en" sz="1600">
                <a:solidFill>
                  <a:schemeClr val="dk1"/>
                </a:solidFill>
              </a:rPr>
              <a:t>Users </a:t>
            </a:r>
            <a:r>
              <a:rPr lang="en" sz="1600"/>
              <a:t>interaction [16, 1848]</a:t>
            </a:r>
            <a:endParaRPr sz="1600"/>
          </a:p>
          <a:p>
            <a:pPr indent="-330200" lvl="1" marL="914400" rtl="0" algn="l">
              <a:spcBef>
                <a:spcPts val="0"/>
              </a:spcBef>
              <a:spcAft>
                <a:spcPts val="0"/>
              </a:spcAft>
              <a:buSzPts val="1600"/>
              <a:buChar char="○"/>
            </a:pPr>
            <a:r>
              <a:rPr lang="en" sz="1600"/>
              <a:t>items frequency [1,1258]</a:t>
            </a:r>
            <a:endParaRPr sz="1600"/>
          </a:p>
        </p:txBody>
      </p:sp>
      <p:pic>
        <p:nvPicPr>
          <p:cNvPr id="73" name="Google Shape;73;p14" title="user_interaction_boxplot_zoom300_annotated.png"/>
          <p:cNvPicPr preferRelativeResize="0"/>
          <p:nvPr/>
        </p:nvPicPr>
        <p:blipFill rotWithShape="1">
          <a:blip r:embed="rId5">
            <a:alphaModFix/>
          </a:blip>
          <a:srcRect b="0" l="2430" r="-2429" t="0"/>
          <a:stretch/>
        </p:blipFill>
        <p:spPr>
          <a:xfrm>
            <a:off x="6706250" y="935959"/>
            <a:ext cx="2795858" cy="978550"/>
          </a:xfrm>
          <a:prstGeom prst="rect">
            <a:avLst/>
          </a:prstGeom>
          <a:noFill/>
          <a:ln>
            <a:noFill/>
          </a:ln>
        </p:spPr>
      </p:pic>
      <p:pic>
        <p:nvPicPr>
          <p:cNvPr id="74" name="Google Shape;74;p14" title="item_frequency_boxplot_zoom300_annotated.png"/>
          <p:cNvPicPr preferRelativeResize="0"/>
          <p:nvPr/>
        </p:nvPicPr>
        <p:blipFill>
          <a:blip r:embed="rId6">
            <a:alphaModFix/>
          </a:blip>
          <a:stretch>
            <a:fillRect/>
          </a:stretch>
        </p:blipFill>
        <p:spPr>
          <a:xfrm>
            <a:off x="6634717" y="2744561"/>
            <a:ext cx="2795858" cy="978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Problem Definition</a:t>
            </a:r>
            <a:endParaRPr/>
          </a:p>
        </p:txBody>
      </p:sp>
      <p:sp>
        <p:nvSpPr>
          <p:cNvPr id="80" name="Google Shape;80;p1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2000"/>
              <a:t>Task</a:t>
            </a:r>
            <a:r>
              <a:rPr b="1" lang="en" sz="2000">
                <a:solidFill>
                  <a:schemeClr val="dk1"/>
                </a:solidFill>
              </a:rPr>
              <a:t>:</a:t>
            </a:r>
            <a:r>
              <a:rPr lang="en" sz="2000">
                <a:solidFill>
                  <a:schemeClr val="dk1"/>
                </a:solidFill>
              </a:rPr>
              <a:t> </a:t>
            </a:r>
            <a:r>
              <a:rPr lang="en" sz="1600">
                <a:solidFill>
                  <a:schemeClr val="dk1"/>
                </a:solidFill>
              </a:rPr>
              <a:t>Collaborative filtering with implicit feedback</a:t>
            </a:r>
            <a:br>
              <a:rPr lang="en" sz="1600">
                <a:solidFill>
                  <a:schemeClr val="dk1"/>
                </a:solidFill>
              </a:rPr>
            </a:br>
            <a:r>
              <a:rPr lang="en" sz="2000"/>
              <a:t>Output:</a:t>
            </a:r>
            <a:r>
              <a:rPr lang="en" sz="1600">
                <a:solidFill>
                  <a:schemeClr val="dk1"/>
                </a:solidFill>
              </a:rPr>
              <a:t> Top-20 recommended items per user</a:t>
            </a:r>
            <a:br>
              <a:rPr lang="en" sz="1600">
                <a:solidFill>
                  <a:schemeClr val="dk1"/>
                </a:solidFill>
              </a:rPr>
            </a:br>
            <a:r>
              <a:rPr lang="en" sz="2000"/>
              <a:t>M</a:t>
            </a:r>
            <a:r>
              <a:rPr lang="en" sz="2000"/>
              <a:t>etric:</a:t>
            </a:r>
            <a:r>
              <a:rPr lang="en" sz="2000">
                <a:solidFill>
                  <a:schemeClr val="dk1"/>
                </a:solidFill>
              </a:rPr>
              <a:t> </a:t>
            </a:r>
            <a:r>
              <a:rPr lang="en" sz="1600">
                <a:solidFill>
                  <a:schemeClr val="dk1"/>
                </a:solidFill>
              </a:rPr>
              <a:t>NDCG@20 (ranking quality)</a:t>
            </a:r>
            <a:endParaRPr sz="1600">
              <a:solidFill>
                <a:schemeClr val="dk1"/>
              </a:solidFill>
            </a:endParaRPr>
          </a:p>
          <a:p>
            <a:pPr indent="0" lvl="0" marL="0" rtl="0" algn="l">
              <a:spcBef>
                <a:spcPts val="1200"/>
              </a:spcBef>
              <a:spcAft>
                <a:spcPts val="0"/>
              </a:spcAft>
              <a:buClr>
                <a:schemeClr val="dk1"/>
              </a:buClr>
              <a:buSzPts val="1100"/>
              <a:buFont typeface="Arial"/>
              <a:buNone/>
            </a:pPr>
            <a:r>
              <a:rPr lang="en" sz="2000"/>
              <a:t>Key challenges:</a:t>
            </a:r>
            <a:endParaRPr b="1" sz="2000">
              <a:solidFill>
                <a:schemeClr val="dk1"/>
              </a:solidFill>
            </a:endParaRPr>
          </a:p>
          <a:p>
            <a:pPr indent="-330200" lvl="0" marL="457200" rtl="0" algn="l">
              <a:spcBef>
                <a:spcPts val="1200"/>
              </a:spcBef>
              <a:spcAft>
                <a:spcPts val="0"/>
              </a:spcAft>
              <a:buClr>
                <a:schemeClr val="dk1"/>
              </a:buClr>
              <a:buSzPts val="1600"/>
              <a:buChar char="●"/>
            </a:pPr>
            <a:r>
              <a:rPr lang="en" sz="1600">
                <a:solidFill>
                  <a:schemeClr val="dk1"/>
                </a:solidFill>
              </a:rPr>
              <a:t>No explicit negatives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High sparsity</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Large item space (~38K items)</a:t>
            </a:r>
            <a:endParaRPr sz="2300"/>
          </a:p>
        </p:txBody>
      </p:sp>
      <p:sp>
        <p:nvSpPr>
          <p:cNvPr id="81" name="Google Shape;81;p15"/>
          <p:cNvSpPr/>
          <p:nvPr/>
        </p:nvSpPr>
        <p:spPr>
          <a:xfrm>
            <a:off x="5905500" y="-690550"/>
            <a:ext cx="4833900" cy="626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Algorithms Compared</a:t>
            </a:r>
            <a:endParaRPr/>
          </a:p>
        </p:txBody>
      </p:sp>
      <p:sp>
        <p:nvSpPr>
          <p:cNvPr id="87" name="Google Shape;87;p1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b="1" lang="en"/>
              <a:t>Ease: </a:t>
            </a:r>
            <a:r>
              <a:rPr lang="en"/>
              <a:t>Shallow linear autoencoder using closed-form item-item matrix</a:t>
            </a:r>
            <a:endParaRPr/>
          </a:p>
          <a:p>
            <a:pPr indent="-342900" lvl="0" marL="457200" rtl="0" algn="l">
              <a:spcBef>
                <a:spcPts val="0"/>
              </a:spcBef>
              <a:spcAft>
                <a:spcPts val="0"/>
              </a:spcAft>
              <a:buSzPts val="1800"/>
              <a:buAutoNum type="arabicPeriod"/>
            </a:pPr>
            <a:r>
              <a:rPr b="1" lang="en"/>
              <a:t>NCF: </a:t>
            </a:r>
            <a:r>
              <a:rPr lang="en"/>
              <a:t>Non-linear user-item interaction via MLP</a:t>
            </a:r>
            <a:endParaRPr/>
          </a:p>
          <a:p>
            <a:pPr indent="-342900" lvl="0" marL="457200" rtl="0" algn="l">
              <a:spcBef>
                <a:spcPts val="0"/>
              </a:spcBef>
              <a:spcAft>
                <a:spcPts val="0"/>
              </a:spcAft>
              <a:buSzPts val="1800"/>
              <a:buAutoNum type="arabicPeriod"/>
            </a:pPr>
            <a:r>
              <a:rPr b="1" lang="en"/>
              <a:t>LightGCN: </a:t>
            </a:r>
            <a:r>
              <a:rPr lang="en"/>
              <a:t>GNN using layed neighborhood aggregation</a:t>
            </a:r>
            <a:endParaRPr/>
          </a:p>
          <a:p>
            <a:pPr indent="-342900" lvl="0" marL="457200" rtl="0" algn="l">
              <a:spcBef>
                <a:spcPts val="0"/>
              </a:spcBef>
              <a:spcAft>
                <a:spcPts val="0"/>
              </a:spcAft>
              <a:buSzPts val="1800"/>
              <a:buAutoNum type="arabicPeriod"/>
            </a:pPr>
            <a:r>
              <a:rPr b="1" lang="en"/>
              <a:t>GraphGPS: </a:t>
            </a:r>
            <a:r>
              <a:rPr lang="en"/>
              <a:t>Graph Transformer blending GNN + global attention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Data Processing Pipeline</a:t>
            </a:r>
            <a:endParaRPr/>
          </a:p>
        </p:txBody>
      </p:sp>
      <p:sp>
        <p:nvSpPr>
          <p:cNvPr id="93" name="Google Shape;93;p17"/>
          <p:cNvSpPr txBox="1"/>
          <p:nvPr>
            <p:ph idx="1" type="body"/>
          </p:nvPr>
        </p:nvSpPr>
        <p:spPr>
          <a:xfrm>
            <a:off x="311700" y="1225225"/>
            <a:ext cx="8520600" cy="3729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Read &amp; parse interaction into (u,i) pairs</a:t>
            </a:r>
            <a:endParaRPr/>
          </a:p>
          <a:p>
            <a:pPr indent="-342900" lvl="0" marL="457200" rtl="0" algn="l">
              <a:spcBef>
                <a:spcPts val="0"/>
              </a:spcBef>
              <a:spcAft>
                <a:spcPts val="0"/>
              </a:spcAft>
              <a:buSzPts val="1800"/>
              <a:buChar char="●"/>
            </a:pPr>
            <a:r>
              <a:rPr lang="en"/>
              <a:t>Build sparse matrix (EASE) or </a:t>
            </a:r>
            <a:r>
              <a:rPr lang="en"/>
              <a:t>bipartite</a:t>
            </a:r>
            <a:r>
              <a:rPr lang="en"/>
              <a:t> graph (LightGCN, GraphGPS)</a:t>
            </a:r>
            <a:endParaRPr/>
          </a:p>
          <a:p>
            <a:pPr indent="-342900" lvl="0" marL="457200" rtl="0" algn="l">
              <a:spcBef>
                <a:spcPts val="0"/>
              </a:spcBef>
              <a:spcAft>
                <a:spcPts val="0"/>
              </a:spcAft>
              <a:buSzPts val="1800"/>
              <a:buChar char="●"/>
            </a:pPr>
            <a:r>
              <a:rPr lang="en"/>
              <a:t>T</a:t>
            </a:r>
            <a:r>
              <a:rPr lang="en"/>
              <a:t>rain/validation </a:t>
            </a:r>
            <a:endParaRPr/>
          </a:p>
          <a:p>
            <a:pPr indent="-342900" lvl="0" marL="457200" rtl="0" algn="l">
              <a:spcBef>
                <a:spcPts val="0"/>
              </a:spcBef>
              <a:spcAft>
                <a:spcPts val="0"/>
              </a:spcAft>
              <a:buSzPts val="1800"/>
              <a:buChar char="●"/>
            </a:pPr>
            <a:r>
              <a:rPr lang="en"/>
              <a:t>For EASE:</a:t>
            </a:r>
            <a:endParaRPr/>
          </a:p>
          <a:p>
            <a:pPr indent="-317500" lvl="1" marL="914400" rtl="0" algn="l">
              <a:spcBef>
                <a:spcPts val="0"/>
              </a:spcBef>
              <a:spcAft>
                <a:spcPts val="0"/>
              </a:spcAft>
              <a:buSzPts val="1400"/>
              <a:buChar char="○"/>
            </a:pPr>
            <a:r>
              <a:rPr lang="en"/>
              <a:t>I</a:t>
            </a:r>
            <a:r>
              <a:rPr lang="en" sz="1600"/>
              <a:t>tem k-core</a:t>
            </a:r>
            <a:endParaRPr sz="1600"/>
          </a:p>
          <a:p>
            <a:pPr indent="-330200" lvl="1" marL="914400" rtl="0" algn="l">
              <a:spcBef>
                <a:spcPts val="0"/>
              </a:spcBef>
              <a:spcAft>
                <a:spcPts val="0"/>
              </a:spcAft>
              <a:buSzPts val="1600"/>
              <a:buChar char="○"/>
            </a:pPr>
            <a:r>
              <a:rPr lang="en" sz="1600"/>
              <a:t>Per-user stratified split (0.2)</a:t>
            </a:r>
            <a:endParaRPr sz="1600"/>
          </a:p>
          <a:p>
            <a:pPr indent="-330200" lvl="1" marL="914400" rtl="0" algn="l">
              <a:spcBef>
                <a:spcPts val="0"/>
              </a:spcBef>
              <a:spcAft>
                <a:spcPts val="0"/>
              </a:spcAft>
              <a:buSzPts val="1600"/>
              <a:buChar char="○"/>
            </a:pPr>
            <a:r>
              <a:rPr lang="en" sz="1600"/>
              <a:t>user-row normalization &amp; IDF weighting</a:t>
            </a:r>
            <a:endParaRPr sz="1600"/>
          </a:p>
          <a:p>
            <a:pPr indent="-342900" lvl="0" marL="457200" rtl="0" algn="l">
              <a:spcBef>
                <a:spcPts val="0"/>
              </a:spcBef>
              <a:spcAft>
                <a:spcPts val="0"/>
              </a:spcAft>
              <a:buSzPts val="1800"/>
              <a:buChar char="●"/>
            </a:pPr>
            <a:r>
              <a:rPr lang="en"/>
              <a:t>For GNNs:</a:t>
            </a:r>
            <a:endParaRPr/>
          </a:p>
          <a:p>
            <a:pPr indent="-330200" lvl="1" marL="914400" rtl="0" algn="l">
              <a:spcBef>
                <a:spcPts val="0"/>
              </a:spcBef>
              <a:spcAft>
                <a:spcPts val="0"/>
              </a:spcAft>
              <a:buSzPts val="1600"/>
              <a:buChar char="○"/>
            </a:pPr>
            <a:r>
              <a:rPr lang="en" sz="1600"/>
              <a:t>Construct</a:t>
            </a:r>
            <a:r>
              <a:rPr lang="en" sz="1600"/>
              <a:t> adjacency matrix</a:t>
            </a:r>
            <a:endParaRPr sz="1600"/>
          </a:p>
          <a:p>
            <a:pPr indent="-330200" lvl="1" marL="914400" rtl="0" algn="l">
              <a:spcBef>
                <a:spcPts val="0"/>
              </a:spcBef>
              <a:spcAft>
                <a:spcPts val="0"/>
              </a:spcAft>
              <a:buSzPts val="1600"/>
              <a:buChar char="○"/>
            </a:pPr>
            <a:r>
              <a:rPr lang="en" sz="1600"/>
              <a:t>Compute</a:t>
            </a:r>
            <a:r>
              <a:rPr lang="en" sz="1600"/>
              <a:t> centralities &amp; positional encodings (GraphGPS)</a:t>
            </a:r>
            <a:endParaRPr sz="1600"/>
          </a:p>
          <a:p>
            <a:pPr indent="-330200" lvl="1" marL="914400" rtl="0" algn="l">
              <a:spcBef>
                <a:spcPts val="0"/>
              </a:spcBef>
              <a:spcAft>
                <a:spcPts val="0"/>
              </a:spcAft>
              <a:buSzPts val="1600"/>
              <a:buChar char="○"/>
            </a:pPr>
            <a:r>
              <a:rPr lang="en" sz="1600"/>
              <a:t>Negative sampling</a:t>
            </a:r>
            <a:endParaRPr sz="1600"/>
          </a:p>
        </p:txBody>
      </p:sp>
      <p:sp>
        <p:nvSpPr>
          <p:cNvPr id="94" name="Google Shape;94;p17"/>
          <p:cNvSpPr txBox="1"/>
          <p:nvPr/>
        </p:nvSpPr>
        <p:spPr>
          <a:xfrm>
            <a:off x="6497725" y="2509875"/>
            <a:ext cx="1616100" cy="49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latin typeface="Times New Roman"/>
                <a:ea typeface="Times New Roman"/>
                <a:cs typeface="Times New Roman"/>
                <a:sym typeface="Times New Roman"/>
              </a:rPr>
              <a:t>𝑤</a:t>
            </a:r>
            <a:r>
              <a:rPr baseline="-25000" lang="en" sz="1600">
                <a:solidFill>
                  <a:schemeClr val="dk1"/>
                </a:solidFill>
                <a:latin typeface="Times New Roman"/>
                <a:ea typeface="Times New Roman"/>
                <a:cs typeface="Times New Roman"/>
                <a:sym typeface="Times New Roman"/>
              </a:rPr>
              <a:t>u,i</a:t>
            </a:r>
            <a:r>
              <a:rPr lang="en" sz="1600">
                <a:solidFill>
                  <a:schemeClr val="dk1"/>
                </a:solidFill>
                <a:latin typeface="Times New Roman"/>
                <a:ea typeface="Times New Roman"/>
                <a:cs typeface="Times New Roman"/>
                <a:sym typeface="Times New Roman"/>
              </a:rPr>
              <a:t>=1/√|I</a:t>
            </a:r>
            <a:r>
              <a:rPr baseline="-25000" lang="en" sz="1600">
                <a:solidFill>
                  <a:schemeClr val="dk1"/>
                </a:solidFill>
                <a:latin typeface="Times New Roman"/>
                <a:ea typeface="Times New Roman"/>
                <a:cs typeface="Times New Roman"/>
                <a:sym typeface="Times New Roman"/>
              </a:rPr>
              <a:t>u</a:t>
            </a:r>
            <a:r>
              <a:rPr lang="en" sz="1600">
                <a:solidFill>
                  <a:schemeClr val="dk1"/>
                </a:solidFill>
                <a:latin typeface="Times New Roman"/>
                <a:ea typeface="Times New Roman"/>
                <a:cs typeface="Times New Roman"/>
                <a:sym typeface="Times New Roman"/>
              </a:rPr>
              <a:t>|IDF(i)</a:t>
            </a:r>
            <a:endParaRPr sz="2200">
              <a:solidFill>
                <a:schemeClr val="dk2"/>
              </a:solidFill>
            </a:endParaRPr>
          </a:p>
        </p:txBody>
      </p:sp>
      <p:pic>
        <p:nvPicPr>
          <p:cNvPr id="95" name="Google Shape;95;p17"/>
          <p:cNvPicPr preferRelativeResize="0"/>
          <p:nvPr/>
        </p:nvPicPr>
        <p:blipFill>
          <a:blip r:embed="rId3">
            <a:alphaModFix/>
          </a:blip>
          <a:stretch>
            <a:fillRect/>
          </a:stretch>
        </p:blipFill>
        <p:spPr>
          <a:xfrm>
            <a:off x="6791175" y="3002775"/>
            <a:ext cx="1731450" cy="1847424"/>
          </a:xfrm>
          <a:prstGeom prst="rect">
            <a:avLst/>
          </a:prstGeom>
          <a:noFill/>
          <a:ln>
            <a:noFill/>
          </a:ln>
        </p:spPr>
      </p:pic>
      <p:graphicFrame>
        <p:nvGraphicFramePr>
          <p:cNvPr id="96" name="Google Shape;96;p17"/>
          <p:cNvGraphicFramePr/>
          <p:nvPr/>
        </p:nvGraphicFramePr>
        <p:xfrm>
          <a:off x="5674750" y="154238"/>
          <a:ext cx="3000000" cy="3000000"/>
        </p:xfrm>
        <a:graphic>
          <a:graphicData uri="http://schemas.openxmlformats.org/drawingml/2006/table">
            <a:tbl>
              <a:tblPr>
                <a:noFill/>
                <a:tableStyleId>{91832964-DCB5-4450-9EE1-D2443716A4E1}</a:tableStyleId>
              </a:tblPr>
              <a:tblGrid>
                <a:gridCol w="508050"/>
                <a:gridCol w="508050"/>
                <a:gridCol w="508050"/>
                <a:gridCol w="508050"/>
                <a:gridCol w="508050"/>
                <a:gridCol w="508050"/>
              </a:tblGrid>
              <a:tr h="357825">
                <a:tc>
                  <a:txBody>
                    <a:bodyPr/>
                    <a:lstStyle/>
                    <a:p>
                      <a:pPr indent="0" lvl="0" marL="0" rtl="0" algn="l">
                        <a:spcBef>
                          <a:spcPts val="0"/>
                        </a:spcBef>
                        <a:spcAft>
                          <a:spcPts val="0"/>
                        </a:spcAft>
                        <a:buNone/>
                      </a:pPr>
                      <a:r>
                        <a:t/>
                      </a:r>
                      <a:endParaRPr sz="1000"/>
                    </a:p>
                  </a:txBody>
                  <a:tcPr marT="91425" marB="91425" marR="91425" marL="91425">
                    <a:lnB cap="flat" cmpd="sng" w="9525">
                      <a:solidFill>
                        <a:schemeClr val="dk2"/>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n" sz="1000"/>
                        <a:t>item0</a:t>
                      </a:r>
                      <a:endParaRPr sz="1000"/>
                    </a:p>
                  </a:txBody>
                  <a:tcPr marT="91425" marB="91425" marR="91425" marL="91425">
                    <a:solidFill>
                      <a:srgbClr val="9FC5E8"/>
                    </a:solidFill>
                  </a:tcPr>
                </a:tc>
                <a:tc>
                  <a:txBody>
                    <a:bodyPr/>
                    <a:lstStyle/>
                    <a:p>
                      <a:pPr indent="0" lvl="0" marL="0" rtl="0" algn="l">
                        <a:spcBef>
                          <a:spcPts val="0"/>
                        </a:spcBef>
                        <a:spcAft>
                          <a:spcPts val="0"/>
                        </a:spcAft>
                        <a:buNone/>
                      </a:pPr>
                      <a:r>
                        <a:rPr lang="en" sz="1000"/>
                        <a:t>item1</a:t>
                      </a:r>
                      <a:endParaRPr sz="1000"/>
                    </a:p>
                  </a:txBody>
                  <a:tcPr marT="91425" marB="91425" marR="91425" marL="91425">
                    <a:solidFill>
                      <a:srgbClr val="9FC5E8"/>
                    </a:solidFill>
                  </a:tcPr>
                </a:tc>
                <a:tc>
                  <a:txBody>
                    <a:bodyPr/>
                    <a:lstStyle/>
                    <a:p>
                      <a:pPr indent="0" lvl="0" marL="0" rtl="0" algn="l">
                        <a:spcBef>
                          <a:spcPts val="0"/>
                        </a:spcBef>
                        <a:spcAft>
                          <a:spcPts val="0"/>
                        </a:spcAft>
                        <a:buNone/>
                      </a:pPr>
                      <a:r>
                        <a:rPr lang="en" sz="1000"/>
                        <a:t>item2</a:t>
                      </a:r>
                      <a:endParaRPr sz="1000"/>
                    </a:p>
                  </a:txBody>
                  <a:tcPr marT="91425" marB="91425" marR="91425" marL="91425">
                    <a:solidFill>
                      <a:srgbClr val="9FC5E8"/>
                    </a:solidFill>
                  </a:tcPr>
                </a:tc>
                <a:tc>
                  <a:txBody>
                    <a:bodyPr/>
                    <a:lstStyle/>
                    <a:p>
                      <a:pPr indent="0" lvl="0" marL="0" rtl="0" algn="l">
                        <a:spcBef>
                          <a:spcPts val="0"/>
                        </a:spcBef>
                        <a:spcAft>
                          <a:spcPts val="0"/>
                        </a:spcAft>
                        <a:buNone/>
                      </a:pPr>
                      <a:r>
                        <a:rPr lang="en" sz="1000"/>
                        <a:t>item3</a:t>
                      </a:r>
                      <a:endParaRPr sz="1000"/>
                    </a:p>
                  </a:txBody>
                  <a:tcPr marT="91425" marB="91425" marR="91425" marL="91425">
                    <a:solidFill>
                      <a:srgbClr val="9FC5E8"/>
                    </a:solidFill>
                  </a:tcPr>
                </a:tc>
                <a:tc>
                  <a:txBody>
                    <a:bodyPr/>
                    <a:lstStyle/>
                    <a:p>
                      <a:pPr indent="0" lvl="0" marL="0" rtl="0" algn="l">
                        <a:spcBef>
                          <a:spcPts val="0"/>
                        </a:spcBef>
                        <a:spcAft>
                          <a:spcPts val="0"/>
                        </a:spcAft>
                        <a:buNone/>
                      </a:pPr>
                      <a:r>
                        <a:rPr lang="en" sz="1000"/>
                        <a:t>I</a:t>
                      </a:r>
                      <a:r>
                        <a:rPr baseline="-25000" lang="en" sz="1000"/>
                        <a:t>u</a:t>
                      </a:r>
                      <a:endParaRPr baseline="-25000" sz="1000"/>
                    </a:p>
                  </a:txBody>
                  <a:tcPr marT="91425" marB="91425" marR="91425" marL="91425">
                    <a:solidFill>
                      <a:srgbClr val="9FC5E8"/>
                    </a:solidFill>
                  </a:tcPr>
                </a:tc>
              </a:tr>
              <a:tr h="317575">
                <a:tc>
                  <a:txBody>
                    <a:bodyPr/>
                    <a:lstStyle/>
                    <a:p>
                      <a:pPr indent="0" lvl="0" marL="0" rtl="0" algn="l">
                        <a:spcBef>
                          <a:spcPts val="0"/>
                        </a:spcBef>
                        <a:spcAft>
                          <a:spcPts val="0"/>
                        </a:spcAft>
                        <a:buNone/>
                      </a:pPr>
                      <a:r>
                        <a:rPr lang="en" sz="1000"/>
                        <a:t>Usr1</a:t>
                      </a:r>
                      <a:endParaRPr sz="1000"/>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n" sz="1000"/>
                        <a:t>1</a:t>
                      </a:r>
                      <a:endParaRPr sz="1000"/>
                    </a:p>
                  </a:txBody>
                  <a:tcPr marT="91425" marB="91425" marR="91425" marL="91425">
                    <a:lnL cap="flat" cmpd="sng" w="9525">
                      <a:solidFill>
                        <a:schemeClr val="dk2"/>
                      </a:solidFill>
                      <a:prstDash val="solid"/>
                      <a:round/>
                      <a:headEnd len="sm" w="sm" type="none"/>
                      <a:tailEnd len="sm" w="sm" type="none"/>
                    </a:lnL>
                  </a:tcPr>
                </a:tc>
                <a:tc>
                  <a:txBody>
                    <a:bodyPr/>
                    <a:lstStyle/>
                    <a:p>
                      <a:pPr indent="0" lvl="0" marL="0" rtl="0" algn="l">
                        <a:spcBef>
                          <a:spcPts val="0"/>
                        </a:spcBef>
                        <a:spcAft>
                          <a:spcPts val="0"/>
                        </a:spcAft>
                        <a:buNone/>
                      </a:pPr>
                      <a:r>
                        <a:rPr lang="en" sz="1000"/>
                        <a:t>1</a:t>
                      </a:r>
                      <a:endParaRPr sz="1000"/>
                    </a:p>
                  </a:txBody>
                  <a:tcPr marT="91425" marB="91425" marR="91425" marL="91425"/>
                </a:tc>
                <a:tc>
                  <a:txBody>
                    <a:bodyPr/>
                    <a:lstStyle/>
                    <a:p>
                      <a:pPr indent="0" lvl="0" marL="0" rtl="0" algn="l">
                        <a:spcBef>
                          <a:spcPts val="0"/>
                        </a:spcBef>
                        <a:spcAft>
                          <a:spcPts val="0"/>
                        </a:spcAft>
                        <a:buNone/>
                      </a:pPr>
                      <a:r>
                        <a:rPr lang="en" sz="1000"/>
                        <a:t>1</a:t>
                      </a:r>
                      <a:endParaRPr sz="1000"/>
                    </a:p>
                  </a:txBody>
                  <a:tcPr marT="91425" marB="91425" marR="91425" marL="91425"/>
                </a:tc>
                <a:tc>
                  <a:txBody>
                    <a:bodyPr/>
                    <a:lstStyle/>
                    <a:p>
                      <a:pPr indent="0" lvl="0" marL="0" rtl="0" algn="l">
                        <a:spcBef>
                          <a:spcPts val="0"/>
                        </a:spcBef>
                        <a:spcAft>
                          <a:spcPts val="0"/>
                        </a:spcAft>
                        <a:buNone/>
                      </a:pPr>
                      <a:r>
                        <a:rPr lang="en" sz="1000"/>
                        <a:t>0</a:t>
                      </a:r>
                      <a:endParaRPr sz="1000"/>
                    </a:p>
                  </a:txBody>
                  <a:tcPr marT="91425" marB="91425" marR="91425" marL="91425"/>
                </a:tc>
                <a:tc>
                  <a:txBody>
                    <a:bodyPr/>
                    <a:lstStyle/>
                    <a:p>
                      <a:pPr indent="0" lvl="0" marL="0" rtl="0" algn="l">
                        <a:spcBef>
                          <a:spcPts val="0"/>
                        </a:spcBef>
                        <a:spcAft>
                          <a:spcPts val="0"/>
                        </a:spcAft>
                        <a:buNone/>
                      </a:pPr>
                      <a:r>
                        <a:rPr lang="en" sz="1000">
                          <a:solidFill>
                            <a:srgbClr val="1155CC"/>
                          </a:solidFill>
                        </a:rPr>
                        <a:t>3</a:t>
                      </a:r>
                      <a:endParaRPr sz="1000">
                        <a:solidFill>
                          <a:srgbClr val="1155CC"/>
                        </a:solidFill>
                      </a:endParaRPr>
                    </a:p>
                  </a:txBody>
                  <a:tcPr marT="91425" marB="91425" marR="91425" marL="91425"/>
                </a:tc>
              </a:tr>
              <a:tr h="317575">
                <a:tc>
                  <a:txBody>
                    <a:bodyPr/>
                    <a:lstStyle/>
                    <a:p>
                      <a:pPr indent="0" lvl="0" marL="0" rtl="0" algn="l">
                        <a:spcBef>
                          <a:spcPts val="0"/>
                        </a:spcBef>
                        <a:spcAft>
                          <a:spcPts val="0"/>
                        </a:spcAft>
                        <a:buNone/>
                      </a:pPr>
                      <a:r>
                        <a:rPr lang="en" sz="1000"/>
                        <a:t>Usr2</a:t>
                      </a:r>
                      <a:endParaRPr sz="1000"/>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n" sz="1000"/>
                        <a:t> 1</a:t>
                      </a:r>
                      <a:endParaRPr sz="1000"/>
                    </a:p>
                  </a:txBody>
                  <a:tcPr marT="91425" marB="91425" marR="91425" marL="91425">
                    <a:lnL cap="flat" cmpd="sng" w="9525">
                      <a:solidFill>
                        <a:schemeClr val="dk2"/>
                      </a:solidFill>
                      <a:prstDash val="solid"/>
                      <a:round/>
                      <a:headEnd len="sm" w="sm" type="none"/>
                      <a:tailEnd len="sm" w="sm" type="none"/>
                    </a:lnL>
                  </a:tcPr>
                </a:tc>
                <a:tc>
                  <a:txBody>
                    <a:bodyPr/>
                    <a:lstStyle/>
                    <a:p>
                      <a:pPr indent="0" lvl="0" marL="0" rtl="0" algn="l">
                        <a:spcBef>
                          <a:spcPts val="0"/>
                        </a:spcBef>
                        <a:spcAft>
                          <a:spcPts val="0"/>
                        </a:spcAft>
                        <a:buNone/>
                      </a:pPr>
                      <a:r>
                        <a:rPr lang="en" sz="1000"/>
                        <a:t>0</a:t>
                      </a:r>
                      <a:endParaRPr sz="1000"/>
                    </a:p>
                  </a:txBody>
                  <a:tcPr marT="91425" marB="91425" marR="91425" marL="91425"/>
                </a:tc>
                <a:tc>
                  <a:txBody>
                    <a:bodyPr/>
                    <a:lstStyle/>
                    <a:p>
                      <a:pPr indent="0" lvl="0" marL="0" rtl="0" algn="l">
                        <a:spcBef>
                          <a:spcPts val="0"/>
                        </a:spcBef>
                        <a:spcAft>
                          <a:spcPts val="0"/>
                        </a:spcAft>
                        <a:buNone/>
                      </a:pPr>
                      <a:r>
                        <a:rPr lang="en" sz="1000"/>
                        <a:t>1</a:t>
                      </a:r>
                      <a:endParaRPr sz="1000"/>
                    </a:p>
                  </a:txBody>
                  <a:tcPr marT="91425" marB="91425" marR="91425" marL="91425"/>
                </a:tc>
                <a:tc>
                  <a:txBody>
                    <a:bodyPr/>
                    <a:lstStyle/>
                    <a:p>
                      <a:pPr indent="0" lvl="0" marL="0" rtl="0" algn="l">
                        <a:spcBef>
                          <a:spcPts val="0"/>
                        </a:spcBef>
                        <a:spcAft>
                          <a:spcPts val="0"/>
                        </a:spcAft>
                        <a:buNone/>
                      </a:pPr>
                      <a:r>
                        <a:rPr lang="en" sz="1000"/>
                        <a:t>0</a:t>
                      </a:r>
                      <a:endParaRPr sz="1000"/>
                    </a:p>
                  </a:txBody>
                  <a:tcPr marT="91425" marB="91425" marR="91425" marL="91425"/>
                </a:tc>
                <a:tc>
                  <a:txBody>
                    <a:bodyPr/>
                    <a:lstStyle/>
                    <a:p>
                      <a:pPr indent="0" lvl="0" marL="0" rtl="0" algn="l">
                        <a:spcBef>
                          <a:spcPts val="0"/>
                        </a:spcBef>
                        <a:spcAft>
                          <a:spcPts val="0"/>
                        </a:spcAft>
                        <a:buNone/>
                      </a:pPr>
                      <a:r>
                        <a:rPr lang="en" sz="1000">
                          <a:solidFill>
                            <a:srgbClr val="1155CC"/>
                          </a:solidFill>
                        </a:rPr>
                        <a:t>2</a:t>
                      </a:r>
                      <a:endParaRPr sz="1000">
                        <a:solidFill>
                          <a:srgbClr val="1155CC"/>
                        </a:solidFill>
                      </a:endParaRPr>
                    </a:p>
                  </a:txBody>
                  <a:tcPr marT="91425" marB="91425" marR="91425" marL="91425"/>
                </a:tc>
              </a:tr>
              <a:tr h="317575">
                <a:tc>
                  <a:txBody>
                    <a:bodyPr/>
                    <a:lstStyle/>
                    <a:p>
                      <a:pPr indent="0" lvl="0" marL="0" rtl="0" algn="l">
                        <a:spcBef>
                          <a:spcPts val="0"/>
                        </a:spcBef>
                        <a:spcAft>
                          <a:spcPts val="0"/>
                        </a:spcAft>
                        <a:buNone/>
                      </a:pPr>
                      <a:r>
                        <a:rPr lang="en" sz="1000"/>
                        <a:t>df</a:t>
                      </a:r>
                      <a:endParaRPr sz="1000"/>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n" sz="1000">
                          <a:solidFill>
                            <a:srgbClr val="1155CC"/>
                          </a:solidFill>
                        </a:rPr>
                        <a:t>2</a:t>
                      </a:r>
                      <a:endParaRPr sz="1000">
                        <a:solidFill>
                          <a:srgbClr val="1155CC"/>
                        </a:solidFill>
                      </a:endParaRPr>
                    </a:p>
                  </a:txBody>
                  <a:tcPr marT="91425" marB="91425" marR="91425" marL="91425">
                    <a:lnL cap="flat" cmpd="sng" w="9525">
                      <a:solidFill>
                        <a:schemeClr val="dk2"/>
                      </a:solidFill>
                      <a:prstDash val="solid"/>
                      <a:round/>
                      <a:headEnd len="sm" w="sm" type="none"/>
                      <a:tailEnd len="sm" w="sm" type="none"/>
                    </a:lnL>
                  </a:tcPr>
                </a:tc>
                <a:tc>
                  <a:txBody>
                    <a:bodyPr/>
                    <a:lstStyle/>
                    <a:p>
                      <a:pPr indent="0" lvl="0" marL="0" rtl="0" algn="l">
                        <a:spcBef>
                          <a:spcPts val="0"/>
                        </a:spcBef>
                        <a:spcAft>
                          <a:spcPts val="0"/>
                        </a:spcAft>
                        <a:buNone/>
                      </a:pPr>
                      <a:r>
                        <a:rPr lang="en" sz="1000">
                          <a:solidFill>
                            <a:srgbClr val="1155CC"/>
                          </a:solidFill>
                        </a:rPr>
                        <a:t>1</a:t>
                      </a:r>
                      <a:endParaRPr sz="1000">
                        <a:solidFill>
                          <a:srgbClr val="1155CC"/>
                        </a:solidFill>
                      </a:endParaRPr>
                    </a:p>
                  </a:txBody>
                  <a:tcPr marT="91425" marB="91425" marR="91425" marL="91425"/>
                </a:tc>
                <a:tc>
                  <a:txBody>
                    <a:bodyPr/>
                    <a:lstStyle/>
                    <a:p>
                      <a:pPr indent="0" lvl="0" marL="0" rtl="0" algn="l">
                        <a:spcBef>
                          <a:spcPts val="0"/>
                        </a:spcBef>
                        <a:spcAft>
                          <a:spcPts val="0"/>
                        </a:spcAft>
                        <a:buNone/>
                      </a:pPr>
                      <a:r>
                        <a:rPr lang="en" sz="1000">
                          <a:solidFill>
                            <a:srgbClr val="1155CC"/>
                          </a:solidFill>
                        </a:rPr>
                        <a:t>2</a:t>
                      </a:r>
                      <a:endParaRPr sz="1000">
                        <a:solidFill>
                          <a:srgbClr val="1155CC"/>
                        </a:solidFill>
                      </a:endParaRPr>
                    </a:p>
                  </a:txBody>
                  <a:tcPr marT="91425" marB="91425" marR="91425" marL="91425"/>
                </a:tc>
                <a:tc>
                  <a:txBody>
                    <a:bodyPr/>
                    <a:lstStyle/>
                    <a:p>
                      <a:pPr indent="0" lvl="0" marL="0" rtl="0" algn="l">
                        <a:spcBef>
                          <a:spcPts val="0"/>
                        </a:spcBef>
                        <a:spcAft>
                          <a:spcPts val="0"/>
                        </a:spcAft>
                        <a:buNone/>
                      </a:pPr>
                      <a:r>
                        <a:rPr lang="en" sz="1000">
                          <a:solidFill>
                            <a:srgbClr val="1155CC"/>
                          </a:solidFill>
                        </a:rPr>
                        <a:t>0</a:t>
                      </a:r>
                      <a:endParaRPr sz="1000">
                        <a:solidFill>
                          <a:srgbClr val="1155CC"/>
                        </a:solidFill>
                      </a:endParaRPr>
                    </a:p>
                  </a:txBody>
                  <a:tcPr marT="91425" marB="91425" marR="91425" marL="91425"/>
                </a:tc>
                <a:tc>
                  <a:txBody>
                    <a:bodyPr/>
                    <a:lstStyle/>
                    <a:p>
                      <a:pPr indent="0" lvl="0" marL="0" rtl="0" algn="l">
                        <a:spcBef>
                          <a:spcPts val="0"/>
                        </a:spcBef>
                        <a:spcAft>
                          <a:spcPts val="0"/>
                        </a:spcAft>
                        <a:buNone/>
                      </a:pPr>
                      <a:r>
                        <a:t/>
                      </a:r>
                      <a:endParaRPr sz="1000"/>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Model Configurations (EASE, NCF)</a:t>
            </a:r>
            <a:endParaRPr/>
          </a:p>
        </p:txBody>
      </p:sp>
      <p:sp>
        <p:nvSpPr>
          <p:cNvPr id="102" name="Google Shape;102;p1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Ease:</a:t>
            </a:r>
            <a:endParaRPr/>
          </a:p>
          <a:p>
            <a:pPr indent="-311150" lvl="0" marL="457200" marR="0" rtl="0" algn="l">
              <a:lnSpc>
                <a:spcPct val="115000"/>
              </a:lnSpc>
              <a:spcBef>
                <a:spcPts val="1200"/>
              </a:spcBef>
              <a:spcAft>
                <a:spcPts val="0"/>
              </a:spcAft>
              <a:buSzPts val="1300"/>
              <a:buChar char="●"/>
            </a:pPr>
            <a:r>
              <a:rPr lang="en" sz="1300"/>
              <a:t>Closed-form linear autoencoder：min||X-XB||</a:t>
            </a:r>
            <a:r>
              <a:rPr baseline="30000" lang="en" sz="1300"/>
              <a:t>2</a:t>
            </a:r>
            <a:r>
              <a:rPr lang="en" sz="1300"/>
              <a:t>+λ||B||</a:t>
            </a:r>
            <a:r>
              <a:rPr baseline="30000" lang="en" sz="1300"/>
              <a:t>2</a:t>
            </a:r>
            <a:endParaRPr sz="1300"/>
          </a:p>
          <a:p>
            <a:pPr indent="-311150" lvl="0" marL="457200" marR="0" rtl="0" algn="l">
              <a:lnSpc>
                <a:spcPct val="115000"/>
              </a:lnSpc>
              <a:spcBef>
                <a:spcPts val="0"/>
              </a:spcBef>
              <a:spcAft>
                <a:spcPts val="0"/>
              </a:spcAft>
              <a:buSzPts val="1300"/>
              <a:buChar char="●"/>
            </a:pPr>
            <a:r>
              <a:rPr lang="en" sz="1300"/>
              <a:t>Training data：k-core(item_min = 3), </a:t>
            </a:r>
            <a:endParaRPr sz="1300"/>
          </a:p>
          <a:p>
            <a:pPr indent="-311150" lvl="0" marL="457200" marR="0" rtl="0" algn="l">
              <a:lnSpc>
                <a:spcPct val="115000"/>
              </a:lnSpc>
              <a:spcBef>
                <a:spcPts val="0"/>
              </a:spcBef>
              <a:spcAft>
                <a:spcPts val="0"/>
              </a:spcAft>
              <a:buSzPts val="1300"/>
              <a:buChar char="●"/>
            </a:pPr>
            <a:r>
              <a:rPr lang="en" sz="1300"/>
              <a:t>warm-eval</a:t>
            </a:r>
            <a:r>
              <a:rPr lang="en" sz="1300"/>
              <a:t> (items that appear in ≥2 users)</a:t>
            </a:r>
            <a:endParaRPr sz="1300"/>
          </a:p>
          <a:p>
            <a:pPr indent="-311150" lvl="0" marL="457200" marR="0" rtl="0" algn="l">
              <a:lnSpc>
                <a:spcPct val="115000"/>
              </a:lnSpc>
              <a:spcBef>
                <a:spcPts val="0"/>
              </a:spcBef>
              <a:spcAft>
                <a:spcPts val="0"/>
              </a:spcAft>
              <a:buSzPts val="1300"/>
              <a:buChar char="●"/>
            </a:pPr>
            <a:r>
              <a:rPr lang="en" sz="1300"/>
              <a:t>Bias controls: user row-normalization ON, IDF weighting O N(31% increase)</a:t>
            </a:r>
            <a:endParaRPr sz="1300"/>
          </a:p>
          <a:p>
            <a:pPr indent="-311150" lvl="0" marL="457200" marR="0" rtl="0" algn="l">
              <a:lnSpc>
                <a:spcPct val="115000"/>
              </a:lnSpc>
              <a:spcBef>
                <a:spcPts val="0"/>
              </a:spcBef>
              <a:spcAft>
                <a:spcPts val="0"/>
              </a:spcAft>
              <a:buSzPts val="1300"/>
              <a:buChar char="●"/>
            </a:pPr>
            <a:r>
              <a:rPr lang="en" sz="1300"/>
              <a:t>Final hyperparameter: λ = 500 (best NDCG@20 on validation)</a:t>
            </a:r>
            <a:endParaRPr sz="1300"/>
          </a:p>
          <a:p>
            <a:pPr indent="0" lvl="0" marL="0" rtl="0" algn="l">
              <a:spcBef>
                <a:spcPts val="1200"/>
              </a:spcBef>
              <a:spcAft>
                <a:spcPts val="0"/>
              </a:spcAft>
              <a:buNone/>
            </a:pPr>
            <a:r>
              <a:rPr lang="en"/>
              <a:t>NCF:</a:t>
            </a:r>
            <a:endParaRPr/>
          </a:p>
          <a:p>
            <a:pPr indent="-311150" lvl="0" marL="457200" rtl="0" algn="l">
              <a:spcBef>
                <a:spcPts val="1200"/>
              </a:spcBef>
              <a:spcAft>
                <a:spcPts val="0"/>
              </a:spcAft>
              <a:buSzPts val="1300"/>
              <a:buChar char="●"/>
            </a:pPr>
            <a:r>
              <a:rPr lang="en" sz="1300"/>
              <a:t>Fusion of GMF and MLP pathways, but MLP only  worked better during our </a:t>
            </a:r>
            <a:r>
              <a:rPr lang="en" sz="1300"/>
              <a:t>experiment</a:t>
            </a:r>
            <a:r>
              <a:rPr lang="en" sz="1300"/>
              <a:t> </a:t>
            </a:r>
            <a:endParaRPr sz="1300"/>
          </a:p>
          <a:p>
            <a:pPr indent="-311150" lvl="0" marL="457200" rtl="0" algn="l">
              <a:spcBef>
                <a:spcPts val="0"/>
              </a:spcBef>
              <a:spcAft>
                <a:spcPts val="0"/>
              </a:spcAft>
              <a:buSzPts val="1300"/>
              <a:buChar char="●"/>
            </a:pPr>
            <a:r>
              <a:rPr lang="en" sz="1300"/>
              <a:t>Objective function: Binary Cross-</a:t>
            </a:r>
            <a:r>
              <a:rPr lang="en" sz="1300"/>
              <a:t>Entropy</a:t>
            </a:r>
            <a:r>
              <a:rPr lang="en" sz="1300"/>
              <a:t> Loss with sigmoid output </a:t>
            </a:r>
            <a:endParaRPr sz="1300"/>
          </a:p>
          <a:p>
            <a:pPr indent="-311150" lvl="0" marL="457200" rtl="0" algn="l">
              <a:spcBef>
                <a:spcPts val="0"/>
              </a:spcBef>
              <a:spcAft>
                <a:spcPts val="0"/>
              </a:spcAft>
              <a:buSzPts val="1300"/>
              <a:buChar char="●"/>
            </a:pPr>
            <a:r>
              <a:rPr lang="en" sz="1300"/>
              <a:t>Embedding dimension: 16 for GMF and 16 for MLP</a:t>
            </a:r>
            <a:endParaRPr sz="1300"/>
          </a:p>
          <a:p>
            <a:pPr indent="-311150" lvl="0" marL="457200" rtl="0" algn="l">
              <a:spcBef>
                <a:spcPts val="0"/>
              </a:spcBef>
              <a:spcAft>
                <a:spcPts val="0"/>
              </a:spcAft>
              <a:buSzPts val="1300"/>
              <a:buChar char="●"/>
            </a:pPr>
            <a:r>
              <a:rPr lang="en" sz="1300"/>
              <a:t>MLP: 3 layers(64 -&gt; 32 -&gt; 16)</a:t>
            </a:r>
            <a:endParaRPr sz="1300"/>
          </a:p>
          <a:p>
            <a:pPr indent="-311150" lvl="0" marL="457200" rtl="0" algn="l">
              <a:spcBef>
                <a:spcPts val="0"/>
              </a:spcBef>
              <a:spcAft>
                <a:spcPts val="0"/>
              </a:spcAft>
              <a:buSzPts val="1300"/>
              <a:buChar char="●"/>
            </a:pPr>
            <a:r>
              <a:rPr lang="en" sz="1300"/>
              <a:t>Dropout: 0.2 applied after MLP layer</a:t>
            </a:r>
            <a:endParaRPr sz="1300"/>
          </a:p>
          <a:p>
            <a:pPr indent="-311150" lvl="0" marL="457200" rtl="0" algn="l">
              <a:spcBef>
                <a:spcPts val="0"/>
              </a:spcBef>
              <a:spcAft>
                <a:spcPts val="0"/>
              </a:spcAft>
              <a:buSzPts val="1300"/>
              <a:buChar char="●"/>
            </a:pPr>
            <a:r>
              <a:rPr lang="en" sz="1300"/>
              <a:t>Final hyperparameter: Epochs 5 and batch size 256 </a:t>
            </a:r>
            <a:endParaRPr sz="1300"/>
          </a:p>
        </p:txBody>
      </p:sp>
      <p:pic>
        <p:nvPicPr>
          <p:cNvPr id="103" name="Google Shape;103;p18" title="ease_idf_ablation.png"/>
          <p:cNvPicPr preferRelativeResize="0"/>
          <p:nvPr/>
        </p:nvPicPr>
        <p:blipFill>
          <a:blip r:embed="rId3">
            <a:alphaModFix/>
          </a:blip>
          <a:stretch>
            <a:fillRect/>
          </a:stretch>
        </p:blipFill>
        <p:spPr>
          <a:xfrm>
            <a:off x="6640943" y="1864911"/>
            <a:ext cx="2281031" cy="1405483"/>
          </a:xfrm>
          <a:prstGeom prst="rect">
            <a:avLst/>
          </a:prstGeom>
          <a:noFill/>
          <a:ln>
            <a:noFill/>
          </a:ln>
        </p:spPr>
      </p:pic>
      <p:pic>
        <p:nvPicPr>
          <p:cNvPr id="104" name="Google Shape;104;p18" title="ease_ndcg_vs_lambda.png"/>
          <p:cNvPicPr preferRelativeResize="0"/>
          <p:nvPr/>
        </p:nvPicPr>
        <p:blipFill>
          <a:blip r:embed="rId4">
            <a:alphaModFix/>
          </a:blip>
          <a:stretch>
            <a:fillRect/>
          </a:stretch>
        </p:blipFill>
        <p:spPr>
          <a:xfrm>
            <a:off x="6580900" y="459399"/>
            <a:ext cx="2238930" cy="140548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Model Configurations</a:t>
            </a:r>
            <a:endParaRPr/>
          </a:p>
        </p:txBody>
      </p:sp>
      <p:sp>
        <p:nvSpPr>
          <p:cNvPr id="110" name="Google Shape;110;p1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Clr>
                <a:schemeClr val="dk1"/>
              </a:buClr>
              <a:buSzPct val="61111"/>
              <a:buFont typeface="Arial"/>
              <a:buNone/>
            </a:pPr>
            <a:r>
              <a:rPr lang="en"/>
              <a:t>LightGCN:</a:t>
            </a:r>
            <a:endParaRPr/>
          </a:p>
          <a:p>
            <a:pPr indent="-300037" lvl="0" marL="457200" rtl="0" algn="l">
              <a:spcBef>
                <a:spcPts val="1200"/>
              </a:spcBef>
              <a:spcAft>
                <a:spcPts val="0"/>
              </a:spcAft>
              <a:buSzPct val="100000"/>
              <a:buChar char="●"/>
            </a:pPr>
            <a:r>
              <a:rPr lang="en"/>
              <a:t>Uses BPR instead of BCE loss and treat it as pointwise binary classification task, which speed up data loading</a:t>
            </a:r>
            <a:endParaRPr/>
          </a:p>
          <a:p>
            <a:pPr indent="-300037" lvl="0" marL="457200" rtl="0" algn="l">
              <a:spcBef>
                <a:spcPts val="0"/>
              </a:spcBef>
              <a:spcAft>
                <a:spcPts val="0"/>
              </a:spcAft>
              <a:buSzPct val="100000"/>
              <a:buChar char="●"/>
            </a:pPr>
            <a:r>
              <a:rPr lang="en"/>
              <a:t>Learning rate increased to 0,005-0.015 was more effective, since we switched to BCN loss function </a:t>
            </a:r>
            <a:endParaRPr/>
          </a:p>
          <a:p>
            <a:pPr indent="-300037" lvl="0" marL="457200" rtl="0" algn="l">
              <a:spcBef>
                <a:spcPts val="0"/>
              </a:spcBef>
              <a:spcAft>
                <a:spcPts val="0"/>
              </a:spcAft>
              <a:buSzPct val="100000"/>
              <a:buChar char="●"/>
            </a:pPr>
            <a:r>
              <a:rPr lang="en"/>
              <a:t>Implemented custom tf.Gradient Tape training loop to have control over dynamic negative sampling</a:t>
            </a:r>
            <a:endParaRPr/>
          </a:p>
          <a:p>
            <a:pPr indent="-300037" lvl="0" marL="457200" rtl="0" algn="l">
              <a:spcBef>
                <a:spcPts val="0"/>
              </a:spcBef>
              <a:spcAft>
                <a:spcPts val="0"/>
              </a:spcAft>
              <a:buSzPct val="100000"/>
              <a:buChar char="●"/>
            </a:pPr>
            <a:r>
              <a:rPr lang="en"/>
              <a:t>Mean pooling across layers to avoid overfitting</a:t>
            </a:r>
            <a:endParaRPr/>
          </a:p>
          <a:p>
            <a:pPr indent="-300037" lvl="0" marL="457200" rtl="0" algn="l">
              <a:spcBef>
                <a:spcPts val="0"/>
              </a:spcBef>
              <a:spcAft>
                <a:spcPts val="0"/>
              </a:spcAft>
              <a:buSzPct val="100000"/>
              <a:buChar char="●"/>
            </a:pPr>
            <a:r>
              <a:rPr lang="en"/>
              <a:t>Batch size increased from 1024 to 8192 to maximize throughput on local GPU</a:t>
            </a:r>
            <a:endParaRPr/>
          </a:p>
          <a:p>
            <a:pPr indent="0" lvl="0" marL="0" rtl="0" algn="l">
              <a:spcBef>
                <a:spcPts val="1200"/>
              </a:spcBef>
              <a:spcAft>
                <a:spcPts val="0"/>
              </a:spcAft>
              <a:buNone/>
            </a:pPr>
            <a:r>
              <a:rPr lang="en"/>
              <a:t>GraphGPS:</a:t>
            </a:r>
            <a:endParaRPr/>
          </a:p>
          <a:p>
            <a:pPr indent="-300037" lvl="0" marL="457200" rtl="0" algn="l">
              <a:spcBef>
                <a:spcPts val="1200"/>
              </a:spcBef>
              <a:spcAft>
                <a:spcPts val="0"/>
              </a:spcAft>
              <a:buSzPct val="100000"/>
              <a:buChar char="●"/>
            </a:pPr>
            <a:r>
              <a:rPr lang="en"/>
              <a:t>GINE local message passing</a:t>
            </a:r>
            <a:endParaRPr/>
          </a:p>
          <a:p>
            <a:pPr indent="-300037" lvl="0" marL="457200" rtl="0" algn="l">
              <a:spcBef>
                <a:spcPts val="0"/>
              </a:spcBef>
              <a:spcAft>
                <a:spcPts val="0"/>
              </a:spcAft>
              <a:buSzPct val="100000"/>
              <a:buChar char="●"/>
            </a:pPr>
            <a:r>
              <a:rPr lang="en"/>
              <a:t>Node features</a:t>
            </a:r>
            <a:endParaRPr/>
          </a:p>
          <a:p>
            <a:pPr indent="-284162" lvl="1" marL="914400" rtl="0" algn="l">
              <a:spcBef>
                <a:spcPts val="0"/>
              </a:spcBef>
              <a:spcAft>
                <a:spcPts val="0"/>
              </a:spcAft>
              <a:buSzPct val="77777"/>
              <a:buChar char="○"/>
            </a:pPr>
            <a:r>
              <a:rPr lang="en" sz="1800"/>
              <a:t>Centrality features, random walk, Eigenvector of Laplacian</a:t>
            </a:r>
            <a:endParaRPr sz="1800"/>
          </a:p>
          <a:p>
            <a:pPr indent="-284162" lvl="1" marL="914400" rtl="0" algn="l">
              <a:spcBef>
                <a:spcPts val="0"/>
              </a:spcBef>
              <a:spcAft>
                <a:spcPts val="0"/>
              </a:spcAft>
              <a:buSzPct val="77777"/>
              <a:buChar char="○"/>
            </a:pPr>
            <a:r>
              <a:rPr lang="en" sz="1800"/>
              <a:t>learned embedding table</a:t>
            </a:r>
            <a:endParaRPr/>
          </a:p>
          <a:p>
            <a:pPr indent="-300037" lvl="0" marL="457200" rtl="0" algn="l">
              <a:spcBef>
                <a:spcPts val="0"/>
              </a:spcBef>
              <a:spcAft>
                <a:spcPts val="0"/>
              </a:spcAft>
              <a:buSzPct val="100000"/>
              <a:buChar char="●"/>
            </a:pPr>
            <a:r>
              <a:rPr lang="en"/>
              <a:t>Edge features</a:t>
            </a:r>
            <a:endParaRPr/>
          </a:p>
          <a:p>
            <a:pPr indent="-301171" lvl="1" marL="914400" rtl="0" algn="l">
              <a:spcBef>
                <a:spcPts val="0"/>
              </a:spcBef>
              <a:spcAft>
                <a:spcPts val="0"/>
              </a:spcAft>
              <a:buSzPct val="100000"/>
              <a:buChar char="○"/>
            </a:pPr>
            <a:r>
              <a:rPr lang="en" sz="1828"/>
              <a:t>random walk, Laplacian</a:t>
            </a:r>
            <a:endParaRPr sz="1828"/>
          </a:p>
          <a:p>
            <a:pPr indent="-300037" lvl="0" marL="457200" rtl="0" algn="l">
              <a:spcBef>
                <a:spcPts val="0"/>
              </a:spcBef>
              <a:spcAft>
                <a:spcPts val="0"/>
              </a:spcAft>
              <a:buSzPct val="100000"/>
              <a:buChar char="●"/>
            </a:pPr>
            <a:r>
              <a:rPr lang="en"/>
              <a:t>Scoring</a:t>
            </a:r>
            <a:r>
              <a:rPr lang="en"/>
              <a:t> head: MLP with concatenated user-item embeddings</a:t>
            </a:r>
            <a:endParaRPr/>
          </a:p>
          <a:p>
            <a:pPr indent="-300037" lvl="0" marL="457200" rtl="0" algn="l">
              <a:spcBef>
                <a:spcPts val="0"/>
              </a:spcBef>
              <a:spcAft>
                <a:spcPts val="0"/>
              </a:spcAft>
              <a:buSzPct val="100000"/>
              <a:buChar char="●"/>
            </a:pPr>
            <a:r>
              <a:rPr lang="en"/>
              <a:t>Link prediction task with edge splits and negative sampling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Evaluation &amp; Results</a:t>
            </a:r>
            <a:endParaRPr/>
          </a:p>
        </p:txBody>
      </p:sp>
      <p:sp>
        <p:nvSpPr>
          <p:cNvPr id="116" name="Google Shape;116;p20"/>
          <p:cNvSpPr txBox="1"/>
          <p:nvPr>
            <p:ph idx="1" type="body"/>
          </p:nvPr>
        </p:nvSpPr>
        <p:spPr>
          <a:xfrm>
            <a:off x="725600" y="3605250"/>
            <a:ext cx="8418300" cy="22671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EASE is strongest among models </a:t>
            </a:r>
            <a:endParaRPr sz="1400"/>
          </a:p>
          <a:p>
            <a:pPr indent="-317500" lvl="0" marL="457200" rtl="0" algn="l">
              <a:spcBef>
                <a:spcPts val="0"/>
              </a:spcBef>
              <a:spcAft>
                <a:spcPts val="0"/>
              </a:spcAft>
              <a:buSzPts val="1400"/>
              <a:buChar char="●"/>
            </a:pPr>
            <a:r>
              <a:rPr lang="en" sz="1400"/>
              <a:t>NCF-MLP performed better than MLP+GMF, but both struggled with extreme </a:t>
            </a:r>
            <a:r>
              <a:rPr lang="en" sz="1400"/>
              <a:t>sparsity</a:t>
            </a:r>
            <a:r>
              <a:rPr lang="en" sz="1400"/>
              <a:t> data.</a:t>
            </a:r>
            <a:endParaRPr sz="1400"/>
          </a:p>
          <a:p>
            <a:pPr indent="-317500" lvl="0" marL="457200" rtl="0" algn="l">
              <a:spcBef>
                <a:spcPts val="0"/>
              </a:spcBef>
              <a:spcAft>
                <a:spcPts val="0"/>
              </a:spcAft>
              <a:buSzPts val="1400"/>
              <a:buChar char="●"/>
            </a:pPr>
            <a:r>
              <a:rPr lang="en" sz="1400"/>
              <a:t>LightGCN outperformed NCF due to graph structure, and improved over 17.7% NDCG@20 score in the final version</a:t>
            </a:r>
            <a:endParaRPr sz="1400"/>
          </a:p>
          <a:p>
            <a:pPr indent="-317500" lvl="0" marL="457200" rtl="0" algn="l">
              <a:spcBef>
                <a:spcPts val="0"/>
              </a:spcBef>
              <a:spcAft>
                <a:spcPts val="0"/>
              </a:spcAft>
              <a:buSzPts val="1400"/>
              <a:buChar char="●"/>
            </a:pPr>
            <a:r>
              <a:rPr lang="en" sz="1400"/>
              <a:t>GraphGPS struggled with training stability on this dataset (out-of-memory / low gain).</a:t>
            </a:r>
            <a:endParaRPr sz="1400"/>
          </a:p>
        </p:txBody>
      </p:sp>
      <p:graphicFrame>
        <p:nvGraphicFramePr>
          <p:cNvPr id="117" name="Google Shape;117;p20"/>
          <p:cNvGraphicFramePr/>
          <p:nvPr/>
        </p:nvGraphicFramePr>
        <p:xfrm>
          <a:off x="725588" y="1180565"/>
          <a:ext cx="3000000" cy="3000000"/>
        </p:xfrm>
        <a:graphic>
          <a:graphicData uri="http://schemas.openxmlformats.org/drawingml/2006/table">
            <a:tbl>
              <a:tblPr>
                <a:noFill/>
                <a:tableStyleId>{91832964-DCB5-4450-9EE1-D2443716A4E1}</a:tableStyleId>
              </a:tblPr>
              <a:tblGrid>
                <a:gridCol w="1369925"/>
                <a:gridCol w="2085425"/>
                <a:gridCol w="4027275"/>
              </a:tblGrid>
              <a:tr h="345800">
                <a:tc>
                  <a:txBody>
                    <a:bodyPr/>
                    <a:lstStyle/>
                    <a:p>
                      <a:pPr indent="0" lvl="0" marL="0" rtl="0" algn="l">
                        <a:spcBef>
                          <a:spcPts val="0"/>
                        </a:spcBef>
                        <a:spcAft>
                          <a:spcPts val="0"/>
                        </a:spcAft>
                        <a:buNone/>
                      </a:pPr>
                      <a:r>
                        <a:t/>
                      </a:r>
                      <a:endParaRPr/>
                    </a:p>
                  </a:txBody>
                  <a:tcPr marT="91425" marB="91425" marR="91425" marL="91425">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NDCG@20 (test)</a:t>
                      </a:r>
                      <a:endParaRPr/>
                    </a:p>
                  </a:txBody>
                  <a:tcPr marT="91425" marB="91425" marR="91425" marL="91425"/>
                </a:tc>
                <a:tc>
                  <a:txBody>
                    <a:bodyPr/>
                    <a:lstStyle/>
                    <a:p>
                      <a:pPr indent="0" lvl="0" marL="0" rtl="0" algn="l">
                        <a:spcBef>
                          <a:spcPts val="0"/>
                        </a:spcBef>
                        <a:spcAft>
                          <a:spcPts val="0"/>
                        </a:spcAft>
                        <a:buNone/>
                      </a:pPr>
                      <a:r>
                        <a:rPr lang="en"/>
                        <a:t>Best params</a:t>
                      </a:r>
                      <a:endParaRPr/>
                    </a:p>
                  </a:txBody>
                  <a:tcPr marT="91425" marB="91425" marR="91425" marL="91425"/>
                </a:tc>
              </a:tr>
              <a:tr h="379525">
                <a:tc>
                  <a:txBody>
                    <a:bodyPr/>
                    <a:lstStyle/>
                    <a:p>
                      <a:pPr indent="0" lvl="0" marL="0" rtl="0" algn="l">
                        <a:lnSpc>
                          <a:spcPct val="115000"/>
                        </a:lnSpc>
                        <a:spcBef>
                          <a:spcPts val="0"/>
                        </a:spcBef>
                        <a:spcAft>
                          <a:spcPts val="1200"/>
                        </a:spcAft>
                        <a:buNone/>
                      </a:pPr>
                      <a:r>
                        <a:rPr lang="en" sz="1800">
                          <a:solidFill>
                            <a:schemeClr val="dk1"/>
                          </a:solidFill>
                        </a:rPr>
                        <a:t>Ease</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0.0517</a:t>
                      </a:r>
                      <a:endParaRPr/>
                    </a:p>
                  </a:txBody>
                  <a:tcPr marT="91425" marB="91425" marR="91425" marL="91425">
                    <a:lnL cap="flat" cmpd="sng" w="9525">
                      <a:solidFill>
                        <a:schemeClr val="dk1"/>
                      </a:solidFill>
                      <a:prstDash val="solid"/>
                      <a:round/>
                      <a:headEnd len="sm" w="sm" type="none"/>
                      <a:tailEnd len="sm" w="sm" type="none"/>
                    </a:lnL>
                  </a:tcPr>
                </a:tc>
                <a:tc>
                  <a:txBody>
                    <a:bodyPr/>
                    <a:lstStyle/>
                    <a:p>
                      <a:pPr indent="0" lvl="0" marL="0" rtl="0" algn="l">
                        <a:spcBef>
                          <a:spcPts val="0"/>
                        </a:spcBef>
                        <a:spcAft>
                          <a:spcPts val="0"/>
                        </a:spcAft>
                        <a:buNone/>
                      </a:pPr>
                      <a:r>
                        <a:rPr lang="en"/>
                        <a:t>λ=500, row-norm + IDF</a:t>
                      </a:r>
                      <a:endParaRPr/>
                    </a:p>
                  </a:txBody>
                  <a:tcPr marT="91425" marB="91425" marR="91425" marL="91425"/>
                </a:tc>
              </a:tr>
              <a:tr h="379525">
                <a:tc>
                  <a:txBody>
                    <a:bodyPr/>
                    <a:lstStyle/>
                    <a:p>
                      <a:pPr indent="0" lvl="0" marL="0" rtl="0" algn="l">
                        <a:lnSpc>
                          <a:spcPct val="115000"/>
                        </a:lnSpc>
                        <a:spcBef>
                          <a:spcPts val="0"/>
                        </a:spcBef>
                        <a:spcAft>
                          <a:spcPts val="1200"/>
                        </a:spcAft>
                        <a:buNone/>
                      </a:pPr>
                      <a:r>
                        <a:rPr lang="en" sz="1800">
                          <a:solidFill>
                            <a:schemeClr val="dk1"/>
                          </a:solidFill>
                        </a:rPr>
                        <a:t>NCF</a:t>
                      </a:r>
                      <a:endParaRPr sz="1800">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0.0262</a:t>
                      </a:r>
                      <a:endParaRPr/>
                    </a:p>
                  </a:txBody>
                  <a:tcPr marT="91425" marB="91425" marR="91425" marL="91425">
                    <a:lnL cap="flat" cmpd="sng" w="9525">
                      <a:solidFill>
                        <a:schemeClr val="dk1"/>
                      </a:solidFill>
                      <a:prstDash val="solid"/>
                      <a:round/>
                      <a:headEnd len="sm" w="sm" type="none"/>
                      <a:tailEnd len="sm" w="sm" type="none"/>
                    </a:lnL>
                  </a:tcPr>
                </a:tc>
                <a:tc>
                  <a:txBody>
                    <a:bodyPr/>
                    <a:lstStyle/>
                    <a:p>
                      <a:pPr indent="0" lvl="0" marL="0" rtl="0" algn="l">
                        <a:spcBef>
                          <a:spcPts val="0"/>
                        </a:spcBef>
                        <a:spcAft>
                          <a:spcPts val="0"/>
                        </a:spcAft>
                        <a:buNone/>
                      </a:pPr>
                      <a:r>
                        <a:rPr lang="en"/>
                        <a:t>Sampling ratio=4, MLP dim=16</a:t>
                      </a:r>
                      <a:endParaRPr/>
                    </a:p>
                  </a:txBody>
                  <a:tcPr marT="91425" marB="91425" marR="91425" marL="91425"/>
                </a:tc>
              </a:tr>
              <a:tr h="379525">
                <a:tc>
                  <a:txBody>
                    <a:bodyPr/>
                    <a:lstStyle/>
                    <a:p>
                      <a:pPr indent="0" lvl="0" marL="0" rtl="0" algn="l">
                        <a:lnSpc>
                          <a:spcPct val="115000"/>
                        </a:lnSpc>
                        <a:spcBef>
                          <a:spcPts val="0"/>
                        </a:spcBef>
                        <a:spcAft>
                          <a:spcPts val="1200"/>
                        </a:spcAft>
                        <a:buNone/>
                      </a:pPr>
                      <a:r>
                        <a:rPr lang="en" sz="1800">
                          <a:solidFill>
                            <a:schemeClr val="dk1"/>
                          </a:solidFill>
                        </a:rPr>
                        <a:t>LightGCN</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0.0426</a:t>
                      </a:r>
                      <a:endParaRPr/>
                    </a:p>
                  </a:txBody>
                  <a:tcPr marT="91425" marB="91425" marR="91425" marL="91425">
                    <a:lnL cap="flat" cmpd="sng" w="9525">
                      <a:solidFill>
                        <a:schemeClr val="dk1"/>
                      </a:solidFill>
                      <a:prstDash val="solid"/>
                      <a:round/>
                      <a:headEnd len="sm" w="sm" type="none"/>
                      <a:tailEnd len="sm" w="sm" type="none"/>
                    </a:lnL>
                  </a:tcPr>
                </a:tc>
                <a:tc>
                  <a:txBody>
                    <a:bodyPr/>
                    <a:lstStyle/>
                    <a:p>
                      <a:pPr indent="0" lvl="0" marL="0" rtl="0" algn="l">
                        <a:spcBef>
                          <a:spcPts val="0"/>
                        </a:spcBef>
                        <a:spcAft>
                          <a:spcPts val="0"/>
                        </a:spcAft>
                        <a:buNone/>
                      </a:pPr>
                      <a:r>
                        <a:rPr lang="en"/>
                        <a:t>Sampling ratio=1, batch size=8192, learning rate=0.005, Dim=64, Layers = 2</a:t>
                      </a:r>
                      <a:endParaRPr/>
                    </a:p>
                  </a:txBody>
                  <a:tcPr marT="91425" marB="91425" marR="91425" marL="91425"/>
                </a:tc>
              </a:tr>
              <a:tr h="506050">
                <a:tc>
                  <a:txBody>
                    <a:bodyPr/>
                    <a:lstStyle/>
                    <a:p>
                      <a:pPr indent="0" lvl="0" marL="0" rtl="0" algn="l">
                        <a:lnSpc>
                          <a:spcPct val="115000"/>
                        </a:lnSpc>
                        <a:spcBef>
                          <a:spcPts val="0"/>
                        </a:spcBef>
                        <a:spcAft>
                          <a:spcPts val="1200"/>
                        </a:spcAft>
                        <a:buNone/>
                      </a:pPr>
                      <a:r>
                        <a:rPr lang="en" sz="1800">
                          <a:solidFill>
                            <a:schemeClr val="dk1"/>
                          </a:solidFill>
                        </a:rPr>
                        <a:t>GraphGPS</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t>0.0004</a:t>
                      </a:r>
                      <a:endParaRPr/>
                    </a:p>
                  </a:txBody>
                  <a:tcPr marT="91425" marB="91425" marR="91425" marL="91425">
                    <a:lnL cap="flat" cmpd="sng" w="9525">
                      <a:solidFill>
                        <a:schemeClr val="dk1"/>
                      </a:solidFill>
                      <a:prstDash val="solid"/>
                      <a:round/>
                      <a:headEnd len="sm" w="sm" type="none"/>
                      <a:tailEnd len="sm" w="sm" type="none"/>
                    </a:lnL>
                  </a:tcPr>
                </a:tc>
                <a:tc>
                  <a:txBody>
                    <a:bodyPr/>
                    <a:lstStyle/>
                    <a:p>
                      <a:pPr indent="0" lvl="0" marL="0" rtl="0" algn="l">
                        <a:spcBef>
                          <a:spcPts val="0"/>
                        </a:spcBef>
                        <a:spcAft>
                          <a:spcPts val="0"/>
                        </a:spcAft>
                        <a:buNone/>
                      </a:pPr>
                      <a:r>
                        <a:rPr lang="en"/>
                        <a:t>User </a:t>
                      </a:r>
                      <a:r>
                        <a:rPr lang="en"/>
                        <a:t>embedding</a:t>
                      </a:r>
                      <a:r>
                        <a:rPr lang="en"/>
                        <a:t>=256, negative sampling ratio=2, attention head=4</a:t>
                      </a:r>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Conclusions &amp; Lessons Learned</a:t>
            </a:r>
            <a:endParaRPr/>
          </a:p>
        </p:txBody>
      </p:sp>
      <p:sp>
        <p:nvSpPr>
          <p:cNvPr id="123" name="Google Shape;123;p21"/>
          <p:cNvSpPr txBox="1"/>
          <p:nvPr>
            <p:ph idx="1" type="body"/>
          </p:nvPr>
        </p:nvSpPr>
        <p:spPr>
          <a:xfrm>
            <a:off x="311700" y="1038986"/>
            <a:ext cx="8520600" cy="3996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What worked:</a:t>
            </a:r>
            <a:endParaRPr/>
          </a:p>
          <a:p>
            <a:pPr indent="-311150" lvl="0" marL="457200" rtl="0" algn="l">
              <a:spcBef>
                <a:spcPts val="1200"/>
              </a:spcBef>
              <a:spcAft>
                <a:spcPts val="0"/>
              </a:spcAft>
              <a:buSzPts val="1300"/>
              <a:buChar char="●"/>
            </a:pPr>
            <a:r>
              <a:rPr lang="en" sz="1300"/>
              <a:t>Closed-form EASE with row-normalization and IDF, tuned around λ ≈ 500, gave a strong NDCG@20 and clearly beat the untuned / no-IDF variants.</a:t>
            </a:r>
            <a:endParaRPr sz="1300"/>
          </a:p>
          <a:p>
            <a:pPr indent="-311150" lvl="0" marL="457200" rtl="0" algn="l">
              <a:spcBef>
                <a:spcPts val="0"/>
              </a:spcBef>
              <a:spcAft>
                <a:spcPts val="0"/>
              </a:spcAft>
              <a:buSzPts val="1300"/>
              <a:buChar char="●"/>
            </a:pPr>
            <a:r>
              <a:rPr lang="en" sz="1300"/>
              <a:t>LightGCN built on a custom </a:t>
            </a:r>
            <a:r>
              <a:rPr lang="en" sz="1300"/>
              <a:t>training</a:t>
            </a:r>
            <a:r>
              <a:rPr lang="en" sz="1300"/>
              <a:t> loop with sparse tensor operations and BCE loss, which resolved library instability, enabled the model to converge smoothly and improved NDCG@20</a:t>
            </a:r>
            <a:endParaRPr sz="1300"/>
          </a:p>
          <a:p>
            <a:pPr indent="0" lvl="0" marL="0" rtl="0" algn="l">
              <a:spcBef>
                <a:spcPts val="1200"/>
              </a:spcBef>
              <a:spcAft>
                <a:spcPts val="0"/>
              </a:spcAft>
              <a:buNone/>
            </a:pPr>
            <a:r>
              <a:rPr lang="en"/>
              <a:t>What </a:t>
            </a:r>
            <a:r>
              <a:rPr lang="en"/>
              <a:t>didn't</a:t>
            </a:r>
            <a:r>
              <a:rPr lang="en"/>
              <a:t> work:</a:t>
            </a:r>
            <a:endParaRPr/>
          </a:p>
          <a:p>
            <a:pPr indent="-311150" lvl="0" marL="457200" rtl="0" algn="l">
              <a:spcBef>
                <a:spcPts val="1200"/>
              </a:spcBef>
              <a:spcAft>
                <a:spcPts val="0"/>
              </a:spcAft>
              <a:buSzPts val="1300"/>
              <a:buChar char="●"/>
            </a:pPr>
            <a:r>
              <a:rPr lang="en" sz="1300"/>
              <a:t>SciPy EASE (float64/float32): ill-conditioned inverse, NaNs, nearly identical recommendation lists</a:t>
            </a:r>
            <a:endParaRPr sz="1300"/>
          </a:p>
          <a:p>
            <a:pPr indent="-311150" lvl="0" marL="457200" rtl="0" algn="l">
              <a:spcBef>
                <a:spcPts val="0"/>
              </a:spcBef>
              <a:spcAft>
                <a:spcPts val="0"/>
              </a:spcAft>
              <a:buSzPts val="1300"/>
              <a:buChar char="●"/>
            </a:pPr>
            <a:r>
              <a:rPr lang="en" sz="1300"/>
              <a:t>GraphGPS </a:t>
            </a:r>
            <a:r>
              <a:rPr lang="en" sz="1300"/>
              <a:t>heavy</a:t>
            </a:r>
            <a:r>
              <a:rPr lang="en" sz="1300"/>
              <a:t> attention: </a:t>
            </a:r>
            <a:endParaRPr sz="1300"/>
          </a:p>
          <a:p>
            <a:pPr indent="-311150" lvl="1" marL="914400" rtl="0" algn="l">
              <a:spcBef>
                <a:spcPts val="0"/>
              </a:spcBef>
              <a:spcAft>
                <a:spcPts val="0"/>
              </a:spcAft>
              <a:buSzPts val="1300"/>
              <a:buChar char="○"/>
            </a:pPr>
            <a:r>
              <a:rPr lang="en" sz="1300"/>
              <a:t>sensitive</a:t>
            </a:r>
            <a:r>
              <a:rPr lang="en" sz="1300"/>
              <a:t> to noise</a:t>
            </a:r>
            <a:endParaRPr sz="1300"/>
          </a:p>
          <a:p>
            <a:pPr indent="-311150" lvl="1" marL="914400" rtl="0" algn="l">
              <a:spcBef>
                <a:spcPts val="0"/>
              </a:spcBef>
              <a:spcAft>
                <a:spcPts val="0"/>
              </a:spcAft>
              <a:buSzPts val="1300"/>
              <a:buChar char="○"/>
            </a:pPr>
            <a:r>
              <a:rPr lang="en" sz="1300"/>
              <a:t>Training</a:t>
            </a:r>
            <a:r>
              <a:rPr lang="en" sz="1300"/>
              <a:t> instability</a:t>
            </a:r>
            <a:endParaRPr sz="1300"/>
          </a:p>
          <a:p>
            <a:pPr indent="-311150" lvl="1" marL="914400" rtl="0" algn="l">
              <a:spcBef>
                <a:spcPts val="0"/>
              </a:spcBef>
              <a:spcAft>
                <a:spcPts val="0"/>
              </a:spcAft>
              <a:buSzPts val="1300"/>
              <a:buChar char="○"/>
            </a:pPr>
            <a:r>
              <a:rPr lang="en" sz="1300"/>
              <a:t>Large </a:t>
            </a:r>
            <a:r>
              <a:rPr lang="en" sz="1300"/>
              <a:t>memory</a:t>
            </a:r>
            <a:r>
              <a:rPr lang="en" sz="1300"/>
              <a:t> usage</a:t>
            </a:r>
            <a:endParaRPr sz="1300"/>
          </a:p>
          <a:p>
            <a:pPr indent="0" lvl="0" marL="0" rtl="0" algn="l">
              <a:spcBef>
                <a:spcPts val="1200"/>
              </a:spcBef>
              <a:spcAft>
                <a:spcPts val="0"/>
              </a:spcAft>
              <a:buNone/>
            </a:pPr>
            <a:r>
              <a:rPr lang="en"/>
              <a:t>Lesson learnt:</a:t>
            </a:r>
            <a:endParaRPr sz="1300"/>
          </a:p>
          <a:p>
            <a:pPr indent="-311150" lvl="0" marL="457200" rtl="0" algn="l">
              <a:spcBef>
                <a:spcPts val="1200"/>
              </a:spcBef>
              <a:spcAft>
                <a:spcPts val="0"/>
              </a:spcAft>
              <a:buSzPts val="1300"/>
              <a:buChar char="●"/>
            </a:pPr>
            <a:r>
              <a:rPr lang="en" sz="1300"/>
              <a:t>Simple often wins</a:t>
            </a:r>
            <a:endParaRPr sz="1300"/>
          </a:p>
          <a:p>
            <a:pPr indent="-311150" lvl="0" marL="457200" rtl="0" algn="l">
              <a:spcBef>
                <a:spcPts val="0"/>
              </a:spcBef>
              <a:spcAft>
                <a:spcPts val="0"/>
              </a:spcAft>
              <a:buSzPts val="1300"/>
              <a:buChar char="●"/>
            </a:pPr>
            <a:r>
              <a:rPr lang="en" sz="1300"/>
              <a:t>Regularization &amp; weighting matter</a:t>
            </a:r>
            <a:endParaRPr sz="13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References</a:t>
            </a:r>
            <a:endParaRPr/>
          </a:p>
        </p:txBody>
      </p:sp>
      <p:sp>
        <p:nvSpPr>
          <p:cNvPr id="129" name="Google Shape;129;p2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marR="0" rtl="0" algn="l">
              <a:spcBef>
                <a:spcPts val="0"/>
              </a:spcBef>
              <a:spcAft>
                <a:spcPts val="0"/>
              </a:spcAft>
              <a:buClr>
                <a:schemeClr val="dk1"/>
              </a:buClr>
              <a:buSzPts val="1100"/>
              <a:buFont typeface="Arial"/>
              <a:buNone/>
            </a:pPr>
            <a:r>
              <a:rPr lang="en" sz="1200">
                <a:latin typeface="Times New Roman"/>
                <a:ea typeface="Times New Roman"/>
                <a:cs typeface="Times New Roman"/>
                <a:sym typeface="Times New Roman"/>
              </a:rPr>
              <a:t>[1] H. Steck, “Embarrassingly Shallow Autoencoders for Sparse Data,” Proceedings of the World Wide Web Conference (WWW), San Francisco, CA, USA, May 2019, pp. 3251–3257. doi: 10.1145/3308558.3313710</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lang="en" sz="1200">
                <a:latin typeface="Times New Roman"/>
                <a:ea typeface="Times New Roman"/>
                <a:cs typeface="Times New Roman"/>
                <a:sym typeface="Times New Roman"/>
              </a:rPr>
              <a:t>[2] L. Rampášek, M. Galkin, V. P. Dwivedi, A. T. Luu, G. Wolf, and D. Beaini, “Recipe for a general, powerful, scalable graph transformer,” in </a:t>
            </a:r>
            <a:r>
              <a:rPr i="1" lang="en" sz="1200">
                <a:latin typeface="Times New Roman"/>
                <a:ea typeface="Times New Roman"/>
                <a:cs typeface="Times New Roman"/>
                <a:sym typeface="Times New Roman"/>
              </a:rPr>
              <a:t>Adv. Neural Inf. Process. Syst. (NeurIPS)</a:t>
            </a:r>
            <a:r>
              <a:rPr lang="en" sz="1200">
                <a:latin typeface="Times New Roman"/>
                <a:ea typeface="Times New Roman"/>
                <a:cs typeface="Times New Roman"/>
                <a:sym typeface="Times New Roman"/>
              </a:rPr>
              <a:t>, 2022. [Online]. Available: https://openreview.net/pdf?id=lMMaNf6oxKM </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lang="en" sz="1200">
                <a:latin typeface="Times New Roman"/>
                <a:ea typeface="Times New Roman"/>
                <a:cs typeface="Times New Roman"/>
                <a:sym typeface="Times New Roman"/>
              </a:rPr>
              <a:t>[3] X. He, K. Deng, X. Wang, Y. Li, Y. Zhang and M. Wang, “LightGCN: Simplifying and Powering Graph Convolution Network for Recommendation,” </a:t>
            </a:r>
            <a:r>
              <a:rPr i="1" lang="en" sz="1200">
                <a:latin typeface="Times New Roman"/>
                <a:ea typeface="Times New Roman"/>
                <a:cs typeface="Times New Roman"/>
                <a:sym typeface="Times New Roman"/>
              </a:rPr>
              <a:t>Proceedings of the 43rd International ACM SIGIR Conference on Research and Development in Information Retrieval (SIGIR 2020)</a:t>
            </a:r>
            <a:r>
              <a:rPr lang="en" sz="1200">
                <a:latin typeface="Times New Roman"/>
                <a:ea typeface="Times New Roman"/>
                <a:cs typeface="Times New Roman"/>
                <a:sym typeface="Times New Roman"/>
              </a:rPr>
              <a:t>, Virtual Event, July 25–30, 2020, pp. 639–648, doi: 10.1145/3397271.3401063.</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sz="1200">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rPr lang="en" sz="1200">
                <a:latin typeface="Times New Roman"/>
                <a:ea typeface="Times New Roman"/>
                <a:cs typeface="Times New Roman"/>
                <a:sym typeface="Times New Roman"/>
              </a:rPr>
              <a:t>[4] X. He, L. Liao, H. Zhang, L. Nie, X. Hu, and T.-S. Chua, “Neural Collaborative Filtering,” in </a:t>
            </a:r>
            <a:r>
              <a:rPr i="1" lang="en" sz="1200">
                <a:latin typeface="Times New Roman"/>
                <a:ea typeface="Times New Roman"/>
                <a:cs typeface="Times New Roman"/>
                <a:sym typeface="Times New Roman"/>
              </a:rPr>
              <a:t>Proc. 26th Int. Conf. World Wide Web (WWW ’17)</a:t>
            </a:r>
            <a:r>
              <a:rPr lang="en" sz="1200">
                <a:latin typeface="Times New Roman"/>
                <a:ea typeface="Times New Roman"/>
                <a:cs typeface="Times New Roman"/>
                <a:sym typeface="Times New Roman"/>
              </a:rPr>
              <a:t>, Perth, Australia, 2017. doi: 10.1145/3038912.3052569.</a:t>
            </a:r>
            <a:endParaRPr sz="1200">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